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98079" y="0"/>
            <a:ext cx="4690872" cy="6858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Verdana"/>
              </a:rPr>
              <a:t>RFP MC-2026-0417  ·  Response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6675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F172A"/>
                </a:solidFill>
                <a:latin typeface="Verdana"/>
              </a:rPr>
              <a:t>Modernizing Meridian's
Inventory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Verdana"/>
              </a:rPr>
              <a:t>[Firm Name]  ·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Prepared for Meridian Components, Inc.
J. Okafor, Director of Procurement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THE SITUATION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A solid foundation. Unfinished work in the wrong places.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743200" cy="1417320"/>
          </a:xfrm>
          <a:prstGeom prst="rect">
            <a:avLst/>
          </a:prstGeom>
          <a:solidFill>
            <a:srgbClr val="DBEA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93392"/>
            <a:ext cx="2468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D4ED8"/>
                </a:solidFill>
                <a:latin typeface="Verdan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Verdana"/>
              </a:rPr>
              <a:t>Warehouses
SF · London · Tokyo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920240"/>
            <a:ext cx="2743200" cy="1417320"/>
          </a:xfrm>
          <a:prstGeom prst="rect">
            <a:avLst/>
          </a:prstGeom>
          <a:solidFill>
            <a:srgbClr val="DBEA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93392"/>
            <a:ext cx="2468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D4ED8"/>
                </a:solidFill>
                <a:latin typeface="Verdan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Verdana"/>
              </a:rPr>
              <a:t>Dashboard views
1 with critical defects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920240"/>
            <a:ext cx="2743200" cy="1417320"/>
          </a:xfrm>
          <a:prstGeom prst="rect">
            <a:avLst/>
          </a:prstGeom>
          <a:solidFill>
            <a:srgbClr val="FEE2E2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93392"/>
            <a:ext cx="2468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B91C1C"/>
                </a:solidFill>
                <a:latin typeface="Verdana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Verdana"/>
              </a:rPr>
              <a:t>Automated tests
IT blocking all changes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920240"/>
            <a:ext cx="2743200" cy="1417320"/>
          </a:xfrm>
          <a:prstGeom prst="rect">
            <a:avLst/>
          </a:prstGeom>
          <a:solidFill>
            <a:srgbClr val="FFEDC2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1993392"/>
            <a:ext cx="2468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92400E"/>
                </a:solidFill>
                <a:latin typeface="Verdana"/>
              </a:rPr>
              <a:t>8+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Verdana"/>
              </a:rPr>
              <a:t>Known Reports issues
unresolved since Nov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5577840" cy="17373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70332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What the previous vendor left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96511"/>
            <a:ext cx="524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Vue 3 + FastAPI — structurally sound. Core views work. But Reports was abandoned mid-delivery, no tests were written, and handoff documentation was minimal.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566160"/>
            <a:ext cx="5486400" cy="17373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703320"/>
            <a:ext cx="5157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What Meridian needs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096511"/>
            <a:ext cx="515721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Complete the unfinished work. Add restocking recommendations for operations. Give IT test coverage to unblock future changes. Document the system properly.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OUR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We read the code. Here is what we found.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640080" cy="98755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21992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Verdana"/>
              </a:rPr>
              <a:t>HIGH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Reports module — Options API, no filters, no i18n.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5728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The only view not migrated to the modern pattern. All strings hardcoded in English. Zero filter integration. Direct axios calls bypass the centralized API client.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471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640080" cy="98755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319272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Verdana"/>
              </a:rPr>
              <a:t>HIGH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0896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PurchaseOrderModal missing from Dashboard.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493008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The Dashboard references a component that does not exist — 'Create PO' throws a runtime error. Not mentioned in the RFP; we found it in the code.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112471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640080" cy="987552"/>
          </a:xfrm>
          <a:prstGeom prst="rect">
            <a:avLst/>
          </a:prstGeom>
          <a:solidFill>
            <a:srgbClr val="FFED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16552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2400E"/>
                </a:solidFill>
                <a:latin typeface="Verdana"/>
              </a:rPr>
              <a:t>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0624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No loading states on filter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590288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Filters trigger silent re-fetches with no visual feedback. Combined with unbounded client-side fetching, this creates a latency problem at scale.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79"/>
            <a:ext cx="1124712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79"/>
            <a:ext cx="640080" cy="9875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13831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64748B"/>
                </a:solidFill>
                <a:latin typeface="Verdana"/>
              </a:rPr>
              <a:t>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303519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Filter value casing inconsistency.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687567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Options pass lowercase values while JSON data uses title case. Backend compensates silently — a hidden maintenance risk.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SCOPE OF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Four requirements. Delivered in priority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640080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21992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Reports Module Remediation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4016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Full audit, filter wiring, i18n coverage, Options API migration, performance. Resolved against a documented issue list Meridian approves before we write a line of code.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4712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17520"/>
            <a:ext cx="640080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319272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R2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089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Restocking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11296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New view: operators set a budget ceiling, system returns ranked purchase order recommendations from stock levels and demand forecasts. Response under 2 seconds.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1124712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640080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416552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R3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2062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Automated Browser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608576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Playwright E2E suite covering Dashboard, Reports, and the new Restocking flow. IT gets the coverage needed to approve future changes with confidence.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79"/>
            <a:ext cx="11247120" cy="1005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5212079"/>
            <a:ext cx="640080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13831"/>
            <a:ext cx="640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R4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30351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Architecture Documentation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705855"/>
            <a:ext cx="9875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Standalone document mapping all four layers: frontend views → API client → FastAPI routes → data layer. Delivered in week 2, before development begins.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OUR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Audit first. Incremental delivery. Quality built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Audit before fixing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Every engagement starts with a documented issue list — type, severity, proposed fix. Meridian approves it before we begin. You always know what is being addressed.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Architecture before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R4 delivered in week 2, before development begins. Meridian IT has a complete system map from day one, not as a final afterthought.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QA at every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Peer code review on every change. QA Engineer runs the Playwright suite continuously — regressions are caught during development, not at milestone review.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Performance as a hard constraint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Every filter interaction across Reports and Restocking must respond within 2 seconds. This is a signed acceptance criterion, enforced by server-side filtering and pagination.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R1 — REPORTS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We fix what the previous vendor left incomplete.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Filter wiring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All 4 filters connected and validated. Server-side filtering replaces client-side fetching. Response within 2 seconds on any filter combination.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Options API → Composition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Reports.vue migrated to the same modern pattern used by every other view. Centralized API client. Proper error handling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i18n coverage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All hardcoded English strings moved to the locale system. Japanese translations added — Tokyo warehouse team gets their interface in Reports.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PurchaseOrderModal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Missing component built and wired. Dashboard 'Create PO' button functional. Found during code review — included in scope, no change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5803D"/>
                </a:solidFill>
                <a:latin typeface="Verdana"/>
              </a:rPr>
              <a:t>R2 — RESTOCKING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From reactive to proactive. Operations buys ahead of shortage.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Operator selects warehouse and category, enters a budget ceiling. System ranks items by restock urgency and cost efficiency. Returns the highest-priority list within budget.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The ranking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Items closest to stockout, weighted by restock cost relative to urgency gap, rise to the top. Budget ceiling is a hard cap — deterministic, explainable, auditable.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/api/restocking responds under 2 seconds. Results paginated at 50 items. Filter changes are debounced — no call fires while the operator is still adjusting inputs.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No external dependencies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Built entirely on data already in the system — current stock and demand forecasts. No new data sources, no integrations, no third-party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A8A04"/>
                </a:solidFill>
                <a:latin typeface="Verdana"/>
              </a:rPr>
              <a:t>R3 — AUTOMATED BROWSER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IT gets the coverage to unblock future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3657600" cy="1280160"/>
          </a:xfrm>
          <a:prstGeom prst="rect">
            <a:avLst/>
          </a:prstGeom>
          <a:solidFill>
            <a:srgbClr val="FFEDC2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91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A8A04"/>
                </a:solidFill>
                <a:latin typeface="Verdana"/>
              </a:rPr>
              <a:t>3 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786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Dashboard · Reports · Restocking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920240"/>
            <a:ext cx="3657600" cy="1280160"/>
          </a:xfrm>
          <a:prstGeom prst="rect">
            <a:avLst/>
          </a:prstGeom>
          <a:solidFill>
            <a:srgbClr val="FFEDC2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3291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A8A04"/>
                </a:solidFill>
                <a:latin typeface="Verdana"/>
              </a:rPr>
              <a:t>E2E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5786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Playwright — real browser, real interactions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920240"/>
            <a:ext cx="3657600" cy="1280160"/>
          </a:xfrm>
          <a:prstGeom prst="rect">
            <a:avLst/>
          </a:prstGeom>
          <a:solidFill>
            <a:srgbClr val="FFEDC2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19" y="2011680"/>
            <a:ext cx="3291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A8A04"/>
                </a:solidFill>
                <a:latin typeface="Verdana"/>
              </a:rPr>
              <a:t>CI-Ready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5786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Documented for pipeline integration — no vendor dependency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29000"/>
            <a:ext cx="5577840" cy="2148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56616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What the tests assert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959352"/>
            <a:ext cx="524865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Not just 'element exists' — tests verify filter changes produce different results, Restocking totals never exceed the budget ceiling, Reports filters visibly change the data.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429000"/>
            <a:ext cx="5486400" cy="21488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3566160"/>
            <a:ext cx="515721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What IT gets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3959352"/>
            <a:ext cx="5157216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Self-contained, documented test suite committed to the repository. Shared fixtures, independent runs. README covering local execution and CI integration — runnable without vendor involvement.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10 weeks. Four milestones. Each gated by your sign-off.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3716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1965960"/>
            <a:ext cx="91440" cy="9601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" y="1965960"/>
            <a:ext cx="10058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79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  <a:latin typeface="Verdana"/>
              </a:rPr>
              <a:t>Wk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0574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4ED8"/>
                </a:solidFill>
                <a:latin typeface="Verdana"/>
              </a:rPr>
              <a:t>R4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478024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Architecture document + full codebase audit + defect catalogue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2240279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Verdana"/>
              </a:rPr>
              <a:t>→ Milestone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81528"/>
            <a:ext cx="13716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3081528"/>
            <a:ext cx="91440" cy="9601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081528"/>
            <a:ext cx="10058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55848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  <a:latin typeface="Verdana"/>
              </a:rPr>
              <a:t>Wk 3–4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1729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803D"/>
                </a:solidFill>
                <a:latin typeface="Verdana"/>
              </a:rPr>
              <a:t>R1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93592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Reports remediation — filters, i18n, Options API migration, PurchaseOrderModal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335584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Verdana"/>
              </a:rPr>
              <a:t>→ Milestone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97096"/>
            <a:ext cx="13716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4197096"/>
            <a:ext cx="91440" cy="960120"/>
          </a:xfrm>
          <a:prstGeom prst="rect">
            <a:avLst/>
          </a:prstGeom>
          <a:solidFill>
            <a:srgbClr val="CA8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20240" y="4197096"/>
            <a:ext cx="10058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471416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  <a:latin typeface="Verdana"/>
              </a:rPr>
              <a:t>Wk 5–6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28853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A8A04"/>
                </a:solidFill>
                <a:latin typeface="Verdana"/>
              </a:rPr>
              <a:t>R3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70916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Test foundation — Dashboard + Reports coverage, CI documentation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471416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Verdana"/>
              </a:rPr>
              <a:t>→ Milestone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12664"/>
            <a:ext cx="13716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5312664"/>
            <a:ext cx="91440" cy="9601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312664"/>
            <a:ext cx="10058400" cy="96012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86984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64748B"/>
                </a:solidFill>
                <a:latin typeface="Verdana"/>
              </a:rPr>
              <a:t>Wk 7–10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40410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D28D9"/>
                </a:solidFill>
                <a:latin typeface="Verdana"/>
              </a:rPr>
              <a:t>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2472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Restocking view + backend endpoint + Restocking E2E tests + handoff package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5586984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4748B"/>
                </a:solidFill>
                <a:latin typeface="Verdana"/>
              </a:rPr>
              <a:t>→ Milestone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PRICING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Fixed-fee. 82 person-days. Built from the ground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5760720" cy="70408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Verdana"/>
              </a:rPr>
              <a:t>Direct labor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14884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Verdana"/>
              </a:rPr>
              <a:t>€41,000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414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Verdana"/>
              </a:rPr>
              <a:t>82 days × €500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70632"/>
            <a:ext cx="5760720" cy="704088"/>
          </a:xfrm>
          <a:prstGeom prst="rect">
            <a:avLst/>
          </a:prstGeom>
          <a:solidFill>
            <a:srgbClr val="DBEA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535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Verdana"/>
              </a:rPr>
              <a:t>+ CCI (43%)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53512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Verdana"/>
              </a:rPr>
              <a:t>€58,630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75304"/>
            <a:ext cx="5760720" cy="704088"/>
          </a:xfrm>
          <a:prstGeom prst="rect">
            <a:avLst/>
          </a:prstGeom>
          <a:solidFill>
            <a:srgbClr val="DBEA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581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Verdana"/>
              </a:rPr>
              <a:t>+ Technical contingency (15%)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5818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Verdana"/>
              </a:rPr>
              <a:t>€67,425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760720" cy="704088"/>
          </a:xfrm>
          <a:prstGeom prst="rect">
            <a:avLst/>
          </a:prstGeom>
          <a:solidFill>
            <a:srgbClr val="DBEA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56285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Verdana"/>
              </a:rPr>
              <a:t>+ Commercial contingency (20%)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62856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Verdana"/>
              </a:rPr>
              <a:t>€80,909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193792"/>
            <a:ext cx="5760720" cy="7498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3474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Verdana"/>
              </a:rPr>
              <a:t>Total fixed fee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376672"/>
            <a:ext cx="1920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Verdana"/>
              </a:rPr>
              <a:t>€80,909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2024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Verdana"/>
              </a:rPr>
              <a:t>BY REQUIREMENT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2331720"/>
            <a:ext cx="530352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24597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R4 — Architecture (10 days)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45973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Verdana"/>
              </a:rPr>
              <a:t>€9,867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953512"/>
            <a:ext cx="530352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30815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R1 — Reports (20 days)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08152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Verdana"/>
              </a:rPr>
              <a:t>€19,734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575304"/>
            <a:ext cx="530352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3703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R3 — Testing (12 days)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703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Verdana"/>
              </a:rPr>
              <a:t>€11,840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197096"/>
            <a:ext cx="530352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432511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R2 — Restocking (32 days)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32511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Verdana"/>
              </a:rPr>
              <a:t>€31,574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4818888"/>
            <a:ext cx="5303520" cy="54864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494690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Project management (8 days)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4946903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F172A"/>
                </a:solidFill>
                <a:latin typeface="Verdana"/>
              </a:rPr>
              <a:t>€7,894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4406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Verdana"/>
              </a:rPr>
              <a:t>Excl. PurchaseOrderModal: −3 days → €77,949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OPTIONAL SCOPE — DESIRED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D1–D3 available as add-ons. Same pricing parameters.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Verdana"/>
              </a:rPr>
              <a:t>Not included in the base fee. Each item is independent and can be added at any time — we recommend confirming by end of week 4 to incorporate into Phase 4 without extending the timeline.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11247120" cy="1188720"/>
          </a:xfrm>
          <a:prstGeom prst="rect">
            <a:avLst/>
          </a:prstGeom>
          <a:solidFill>
            <a:srgbClr val="DBEA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423160"/>
            <a:ext cx="640080" cy="1188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88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D1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1460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UI Modernization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51460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D4ED8"/>
                </a:solidFill>
                <a:latin typeface="Verdana"/>
              </a:rPr>
              <a:t>8 days · €7,894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35224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Refresh visual design using Meridian's brand colours as baseline — spacing, typography, component consistency. No design system required; we work from the existing colour tokens.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49039"/>
            <a:ext cx="11247120" cy="1188720"/>
          </a:xfrm>
          <a:prstGeom prst="rect">
            <a:avLst/>
          </a:prstGeom>
          <a:solidFill>
            <a:srgbClr val="DCFCE7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640080" cy="118872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148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D2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4047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i18n Extension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840479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5803D"/>
                </a:solidFill>
                <a:latin typeface="Verdana"/>
              </a:rPr>
              <a:t>6 days · €5,920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261104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Extend Japanese translation coverage to all remaining modules (Inventory, Orders, Demand, Spending, Backlog). Tokyo warehouse staff currently work in English-only views.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74920"/>
            <a:ext cx="11247120" cy="1188720"/>
          </a:xfrm>
          <a:prstGeom prst="rect">
            <a:avLst/>
          </a:prstGeom>
          <a:solidFill>
            <a:srgbClr val="EDE9FE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5074920"/>
            <a:ext cx="640080" cy="11887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406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Verdana"/>
              </a:rPr>
              <a:t>D3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6635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Dark 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166359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6D28D9"/>
                </a:solidFill>
                <a:latin typeface="Verdana"/>
              </a:rPr>
              <a:t>5 days · €4,934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586983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4155"/>
                </a:solidFill>
                <a:latin typeface="Verdana"/>
              </a:rPr>
              <a:t>Operator-selectable theme toggle using CSS custom properties. Preserves all existing styles; dark palette applied as an overlay. Suitable for low-light warehouse floor stations.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400800"/>
            <a:ext cx="11247120" cy="34747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64808"/>
            <a:ext cx="10881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34155"/>
                </a:solidFill>
                <a:latin typeface="Verdana"/>
              </a:rPr>
              <a:t>All three (D1 + D2 + D3): 19 days · €18,748  —  Grand total with all desired: €99,657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RELEVANT EXPERIENCE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We have done this before. Four times, directly applicable.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11247120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9339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Distribution Operations Dashboard — Industrial Manufacturer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02996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Verdana"/>
              </a:rPr>
              <a:t>12 weeks · Vue 3 + FastAPI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2257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Inherited incomplete dashboard from prior vendor — broken filters, no tests, no docs. Full remediation, architecture docs, test suite.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15184"/>
            <a:ext cx="77724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42616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Verdana"/>
              </a:rPr>
              <a:t>11 defects resolved · filters 8s → 1.5s · IT approved first change request in 48h · 0 regressions in 6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6426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1D4ED8"/>
                </a:solidFill>
                <a:latin typeface="Verdana"/>
              </a:rPr>
              <a:t>→ R1, R3, 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11247120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8211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Restocking Recommendation Engine — B2B Distributor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2186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Verdana"/>
              </a:rPr>
              <a:t>8 weeks · Vue 3 + FastAPI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1129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Budget-ceiling PO recommendations across 3 warehouses. Built entirely on existing data. Server-side filtering enforcing 2s response.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77724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31336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Verdana"/>
              </a:rPr>
              <a:t>Analyst time per weekly list: 3.5h → 4 min · P95 API response: 1.2s · 0 budget ceiling overruns in 12 months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831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1D4ED8"/>
                </a:solidFill>
                <a:latin typeface="Verdana"/>
              </a:rPr>
              <a:t>→ R2, performance requirements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97680"/>
            <a:ext cx="11247120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7083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Vue 2 → Vue 3 Migration — Logistics SaaS (40K MAU)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40740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Verdana"/>
              </a:rPr>
              <a:t>16 weeks · 30+ 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0001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Options API to Composition API migration at 30× the scale of Meridian's single remaining view. Zero production incidents.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992624"/>
            <a:ext cx="77724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020056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Verdana"/>
              </a:rPr>
              <a:t>34 views migrated · 0 production incidents · maintenance velocity +40% · client team self-managed additions post-handoff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50200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1D4ED8"/>
                </a:solidFill>
                <a:latin typeface="Verdana"/>
              </a:rPr>
              <a:t>→ R1 — Options API migration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86400"/>
            <a:ext cx="11247120" cy="1078992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5595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Verdana"/>
              </a:rPr>
              <a:t>E2E Test Suite — Inventory Management, 3PL Operator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961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Verdana"/>
              </a:rPr>
              <a:t>6 weeks · Playwright + Vue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888736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IT team had no test coverage and could not approve any changes. 12 critical flows across 5 views. Documented pattern for new tests.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181344"/>
            <a:ext cx="77724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208776"/>
            <a:ext cx="7589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D4ED8"/>
                </a:solidFill>
                <a:latin typeface="Verdana"/>
              </a:rPr>
              <a:t>47 assertions · first change request approved in 2 days · 8 deployments in 4 months (0 before) · 3 flows added by client team independently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62087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1D4ED8"/>
                </a:solidFill>
                <a:latin typeface="Verdana"/>
              </a:rPr>
              <a:t>→ R3 — automated browser testing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DELIVERY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Four people. No subcontractors. All four have worked together before.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5577840" cy="2057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5577840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0848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Lead Consultant
&amp; Project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6060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9 years · PMP certified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803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Engagement lead, client relationship, architecture documentation. Led six comparable engagements including two prior-vendor remediation projects.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529584"/>
            <a:ext cx="521208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55701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D4ED8"/>
                </a:solidFill>
                <a:latin typeface="Verdana"/>
              </a:rPr>
              <a:t>100% — full 10 weeks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920240"/>
            <a:ext cx="5577840" cy="2057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920240"/>
            <a:ext cx="5577840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208483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Senior Frontend
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6060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7 years · Vue Certified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88036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Reports remediation (R1), Restocking view (R2), i18n. Performed the Vue 2→3 migration referenced in experience. Deep Composition API expertise.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9672" y="3529584"/>
            <a:ext cx="521208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1112" y="355701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D4ED8"/>
                </a:solidFill>
                <a:latin typeface="Verdana"/>
              </a:rPr>
              <a:t>20% Phase 1 · 100% Phases 2–4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14800"/>
            <a:ext cx="5577840" cy="2057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114800"/>
            <a:ext cx="5577840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2793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Backend
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8006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6 years · FastAPI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507492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Restocking API endpoint, server-side filtering, performance. Built the recommendation engine referenced in experience on the same FastAPI stack.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5724144"/>
            <a:ext cx="521208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5157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D4ED8"/>
                </a:solidFill>
                <a:latin typeface="Verdana"/>
              </a:rPr>
              <a:t>20% Phase 1 · 60% Phase 2 · 100% Phase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14800"/>
            <a:ext cx="5577840" cy="20574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4114800"/>
            <a:ext cx="5577840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9672" y="4279392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72A"/>
                </a:solidFill>
                <a:latin typeface="Verdana"/>
              </a:rPr>
              <a:t>QA &amp;
Test Engineer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8006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5 years · Playwright specialist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507492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334155"/>
                </a:solidFill>
                <a:latin typeface="Verdana"/>
              </a:rPr>
              <a:t>Playwright test suite (R3), continuous QA across all phases, milestone sign-off verification. Led the standalone testing engagement referenced in experience.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9672" y="5724144"/>
            <a:ext cx="521208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575157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D4ED8"/>
                </a:solidFill>
                <a:latin typeface="Verdana"/>
              </a:rPr>
              <a:t>30% Phases 1–2 · 100% Phase 3 · 60% Phase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Verdana"/>
              </a:rPr>
              <a:t>WHY US · 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45720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155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172A"/>
                </a:solidFill>
                <a:latin typeface="Verdana"/>
              </a:rPr>
              <a:t>We are not guessing at your codebase. And we operate predictably.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We already read the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We identified the missing PurchaseOrderModal, Options API split, direct axios calls, and filter casing inconsistency before writing this proposal. Day one is execution.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01168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214884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Milestone-gated, fixed-fee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54203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Every payment tied to an approved delivery — not a calendar date. Scope changes go through a written change order before work starts. No surprises.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Weekly status reports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Every Friday: work completed, work planned, open decisions, person-days consumed vs. planned, RAG status per workstream. Okafor and Tanaka both copied.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160520"/>
            <a:ext cx="5577840" cy="19659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4297680"/>
            <a:ext cx="524865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45-day warranty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4690872"/>
            <a:ext cx="524865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Verdana"/>
              </a:rPr>
              <a:t>Any defect attributable to delivered work fixed within 5 business days. No charge. Change order required only for new features, not for bugs we caused.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E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F172A"/>
                </a:solidFill>
                <a:latin typeface="Verdana"/>
              </a:rPr>
              <a:t>Ready to start week one
within a week of award.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  <a:latin typeface="Verdana"/>
              </a:rPr>
              <a:t>The proposal is complete. The code is reviewed. The issue list is drafted.
The only thing left is the contract.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572000"/>
            <a:ext cx="2103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663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Verdana"/>
              </a:rPr>
              <a:t>Response submitted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May 8,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4572000"/>
            <a:ext cx="2103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663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Verdana"/>
              </a:rPr>
              <a:t>Questions deadline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0749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April 28,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4572000"/>
            <a:ext cx="2103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4663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Verdana"/>
              </a:rPr>
              <a:t>Base fixed fee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50749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€80,909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4572000"/>
            <a:ext cx="2103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663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Verdana"/>
              </a:rPr>
              <a:t>With all desired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50749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€99,657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4572000"/>
            <a:ext cx="21031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6634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Verdana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5074920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Verdana"/>
              </a:rPr>
              <a:t>10 weeks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