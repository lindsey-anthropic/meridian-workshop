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RFP MC-2026-0417 · MAY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9144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8FAFC"/>
                </a:solidFill>
              </a:rPr>
              <a:t>Modernizing the
Meridian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75569"/>
                </a:solidFill>
              </a:rPr>
              <a:t>Capabilities Presentation — Accenture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63440"/>
            <a:ext cx="1124712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</a:rPr>
              <a:t>Remediation  ·  New capability  ·  Test coverage  ·  Architecture handoff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THE 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</a:rPr>
              <a:t>You have a working dashboard.
It's not fully working.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Three problems are blocking your operations team from getting full value.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834640"/>
            <a:ext cx="365760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1280160" cy="256032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CA5A5"/>
                </a:solidFill>
              </a:rPr>
              <a:t>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15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</a:rPr>
              <a:t>Defects unresolved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At least 8 known issues left at handoff. Filters, i18n gaps, inconsistent data patterns.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2834640"/>
            <a:ext cx="365760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3017520"/>
            <a:ext cx="1280160" cy="256032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CD34D"/>
                </a:solidFill>
              </a:rPr>
              <a:t>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015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</a:rPr>
              <a:t>No restocking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8404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Your ops team can see stock levels but can't generate a purchase recommendation.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84464" y="2834640"/>
            <a:ext cx="365760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67344" y="3017520"/>
            <a:ext cx="1280160" cy="256032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CA5A5"/>
                </a:solidFill>
              </a:rP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4015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</a:rPr>
              <a:t>No test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38404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IT has blocked changes. Without automated tests, every change is a manual risk assessment.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OUR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8FAFC"/>
                </a:solidFill>
              </a:rPr>
              <a:t>IT isn't the obstacle.
IT is the unlock.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</a:rPr>
              <a:t>Most proposals treat testing as the last deliverable. We treat it as the first.
Until IT can approve changes with confidence, nothing you deliver is maintainable.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</a:rPr>
              <a:t>We establish test coverage in week two — before any defect fixes land.
That's how you get IT on your side instead of managing around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2103120"/>
            <a:ext cx="3657600" cy="34747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2331720"/>
            <a:ext cx="128016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93C5FD"/>
                </a:solidFill>
              </a:rPr>
              <a:t>SEQUENCING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7432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</a:rPr>
              <a:t>Tests → Reports → Restocking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2461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Each phase lands with coverage already in place. IT sees approvable changes from week 3 onward, not week 8.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REQUIREMENT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</a:rPr>
              <a:t>Reports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</a:rPr>
              <a:t>No formal defect list exists — we audit everything, document findings, get ops team sign-off, then resolve all issues.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834640"/>
            <a:ext cx="530352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128016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93C5FD"/>
                </a:solidFill>
              </a:rPr>
              <a:t>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538728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456432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Full filter audit — Time Period, Warehouse, Category,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831336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4904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API pattern consistency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23944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041648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i18n gap extraction to localisation layer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416552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34256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Console error resolution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834640"/>
            <a:ext cx="539496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3017520"/>
            <a:ext cx="1280160" cy="256032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86EFAC"/>
                </a:solidFill>
              </a:rPr>
              <a:t>DELIVERABLE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56432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Defect inventory shared with R. Tanaka's team for sign-off before we start fixing. No surprises.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6EFAC"/>
                </a:solidFill>
              </a:rPr>
              <a:t>✓  Complete by end of week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REQUIREMENT R2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</a:rPr>
              <a:t>Restocking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</a:rPr>
              <a:t>Full optimization view — enter a budget ceiling, select warehouse scope, receive ranked purchase order recommendations.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834640"/>
            <a:ext cx="3657600" cy="32918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128016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93C5FD"/>
                </a:solidFill>
              </a:rPr>
              <a:t>INPUTS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538728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456432"/>
            <a:ext cx="3127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Current stock levels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31336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749040"/>
            <a:ext cx="3127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Demand forecast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41648"/>
            <a:ext cx="3127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Operator budget ceiling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2834640"/>
            <a:ext cx="3657600" cy="32918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53712" y="3017520"/>
            <a:ext cx="1280160" cy="256032"/>
          </a:xfrm>
          <a:prstGeom prst="rect">
            <a:avLst/>
          </a:prstGeom>
          <a:solidFill>
            <a:srgbClr val="3B0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D8B4FE"/>
                </a:solidFill>
              </a:rPr>
              <a:t>LOGIC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538728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8304" y="3456432"/>
            <a:ext cx="3127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Constrained allocation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53712" y="3831336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18304" y="3749040"/>
            <a:ext cx="3127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Maximize units within budget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53712" y="4123944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18304" y="4041648"/>
            <a:ext cx="3127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Server-side via /api/restocking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84464" y="2834640"/>
            <a:ext cx="3657600" cy="32918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67344" y="3017520"/>
            <a:ext cx="1280160" cy="256032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86EFAC"/>
                </a:solidFill>
              </a:rPr>
              <a:t>OUTPUT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3538728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31936" y="3456432"/>
            <a:ext cx="3127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Ranked recommendation 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3831336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1936" y="3749040"/>
            <a:ext cx="3127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SKU · stock · demand · qty · cost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67344" y="4123944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31936" y="4041648"/>
            <a:ext cx="3127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Per-warehouse scope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REQUIREMENT R3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</a:rPr>
              <a:t>Automated browser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</a:rPr>
              <a:t>Playwright end-to-end tests covering the four flows IT needs to approve future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834640"/>
            <a:ext cx="530352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128016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93C5FD"/>
                </a:solidFill>
              </a:rPr>
              <a:t>COVERED FLOWS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538728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456432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Dashboard — KPI tiles load with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831336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4904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Inventory — filter by warehouse and 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23944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041648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Reports — all filters apply, no console errors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416552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34256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Restocking — budget input, recommendations returned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834640"/>
            <a:ext cx="539496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3017520"/>
            <a:ext cx="1280160" cy="256032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86EFAC"/>
                </a:solidFill>
              </a:rPr>
              <a:t>DELIVERED 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56432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Tests live in the repository alongside application code — CI-ready from day one, not a one-time artifact.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6634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6EFAC"/>
                </a:solidFill>
              </a:rPr>
              <a:t>✓  IT unblocked for Reports in week 4
✓  Full coverage complete week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REQUIREMENT R4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</a:rPr>
              <a:t>Architecture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</a:rPr>
              <a:t>Produced during onboarding — before any code changes — so it reflects what was actually delivered, not what we modify.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008376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26080"/>
            <a:ext cx="7150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Component diagram: frontend views, API layer, backend, data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55848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3273552"/>
            <a:ext cx="7150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Primary filter/query data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03320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621024"/>
            <a:ext cx="7150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Full API endpoint inventory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50792"/>
            <a:ext cx="635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68496"/>
            <a:ext cx="7150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Technical debt summary — what we inherited from the previous vendor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2743200"/>
            <a:ext cx="3291840" cy="18288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95360" y="2926080"/>
            <a:ext cx="128016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93C5FD"/>
                </a:solidFill>
              </a:rPr>
              <a:t>FORMAT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3375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Interactive HTML diagram. No special tools required for Meridian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</a:rPr>
              <a:t>Updated at engagement close and handed off to IT at the final review session.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DESIRED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</a:rPr>
              <a:t>Stretch objectives at no additional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</a:rPr>
              <a:t>D1–D3 are in scope if timeline permits. Prioritized with your team after R1–R4 are delivered.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834640"/>
            <a:ext cx="365760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1280160" cy="256032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CD34D"/>
                </a:solidFill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15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</a:rPr>
              <a:t>UI modernization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Visual refresh to current standards — or your brand guide if you have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2834640"/>
            <a:ext cx="365760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3017520"/>
            <a:ext cx="1280160" cy="256032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CD34D"/>
                </a:solidFill>
              </a:rPr>
              <a:t>D2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015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</a:rPr>
              <a:t>Full i18n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8404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Japanese-language support for Tokyo warehouse. Extends the i18n layer already partially in place.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84464" y="2834640"/>
            <a:ext cx="365760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67344" y="3017520"/>
            <a:ext cx="1280160" cy="256032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CD34D"/>
                </a:solidFill>
              </a:rPr>
              <a:t>D3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4015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</a:rPr>
              <a:t>Dark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38404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Operator-selectable theme for low-light floor stations. Prototyped on a branch — no risk to main.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</a:rPr>
              <a:t>We don't commit to all three — but we commit to none of them blocking R1–R4.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8-WEEK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</a:rPr>
              <a:t>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274320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505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Weeks 1–2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</a:rPr>
              <a:t>Phase 1: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Architecture review
Test infrastructure
Defect audit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6EFAC"/>
                </a:solidFill>
              </a:rPr>
              <a:t>→ R4 draft delivered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286000"/>
            <a:ext cx="274320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4505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Weeks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743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</a:rPr>
              <a:t>Phase 2: Reports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2004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All defects resolved
Reports + Dashboard
test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3035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6EFAC"/>
                </a:solidFill>
              </a:rPr>
              <a:t>→ R1 + partial R3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286000"/>
            <a:ext cx="274320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4505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Weeks 5–7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743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</a:rPr>
              <a:t>Phase 3: Restocking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API endpoint
Restocking view
Inventory + Restocking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3035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6EFAC"/>
                </a:solidFill>
              </a:rPr>
              <a:t>→ R2 + R3 complete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2286000"/>
            <a:ext cx="274320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24505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Week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743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</a:rPr>
              <a:t>Phase 4: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2004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R4 final
Stretch items
IT handoff session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53035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6EFAC"/>
                </a:solidFill>
              </a:rPr>
              <a:t>→ Full acceptance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</a:rPr>
              <a:t>Proposed start: May 18, 2026  ·  Completion: July 11,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8FAFC"/>
                </a:solidFill>
              </a:rPr>
              <a:t>Fixed fee. No surprises.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029200" cy="3840480"/>
          </a:xfrm>
          <a:prstGeom prst="rect">
            <a:avLst/>
          </a:prstGeom>
          <a:solidFill>
            <a:srgbClr val="1E3A5F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Total fixed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8FAFC"/>
                </a:solidFill>
              </a:rPr>
              <a:t>$28,500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Not-to-exceed · All R1–R4 deliverables included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60520"/>
            <a:ext cx="1124712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</a:rPr>
              <a:t>30% on start  ·  40% at Phase 2  ·  30% at acceptance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286000"/>
            <a:ext cx="5760720" cy="5029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3957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R4 — Architecture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3957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3B82F6"/>
                </a:solidFill>
              </a:rPr>
              <a:t>$3,000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852928"/>
            <a:ext cx="5760720" cy="5029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96265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R1 — Reports remediation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96265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3B82F6"/>
                </a:solidFill>
              </a:rPr>
              <a:t>$7,500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3419856"/>
            <a:ext cx="5760720" cy="5029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35295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R3 — Automated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52958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3B82F6"/>
                </a:solidFill>
              </a:rPr>
              <a:t>$5,500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3986783"/>
            <a:ext cx="5760720" cy="5029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09651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R2 — Restocking recommendations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096511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3B82F6"/>
                </a:solidFill>
              </a:rPr>
              <a:t>$10,500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4553712"/>
            <a:ext cx="5760720" cy="5029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4663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PM, handoff &amp; buffer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663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3B82F6"/>
                </a:solidFill>
              </a:rPr>
              <a:t>$2,000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5120640"/>
            <a:ext cx="5760720" cy="502920"/>
          </a:xfrm>
          <a:prstGeom prst="rect">
            <a:avLst/>
          </a:prstGeom>
          <a:solidFill>
            <a:srgbClr val="1E293B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523036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</a:rPr>
              <a:t>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52303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3B82F6"/>
                </a:solidFill>
              </a:rPr>
              <a:t>$28,500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RELEVANT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</a:rPr>
              <a:t>We've done this before.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3657600" cy="39319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87168"/>
            <a:ext cx="128016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93C5FD"/>
                </a:solidFill>
              </a:rPr>
              <a:t>2025 · VANTAGE LOGISTICS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</a:rPr>
              <a:t>Warehouse Ops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Defect remediation + demand-driven reorder + Playwright coverage. Fixed-fee, on schedule. 4,000+ recommendations since go-live.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366F1"/>
                </a:solidFill>
              </a:rPr>
              <a:t>→ Comparable to R1, R2, R3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2286000"/>
            <a:ext cx="3657600" cy="39319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2487168"/>
            <a:ext cx="1280160" cy="256032"/>
          </a:xfrm>
          <a:prstGeom prst="rect">
            <a:avLst/>
          </a:prstGeom>
          <a:solidFill>
            <a:srgbClr val="3B0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D8B4FE"/>
                </a:solidFill>
              </a:rPr>
              <a:t>2024 · CORSTONE MFG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8529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</a:rPr>
              <a:t>Inventory Control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2918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Inherited partial build. Architecture review, i18n for Japanese facility, IT handoff documentation at close.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5303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366F1"/>
                </a:solidFill>
              </a:rPr>
              <a:t>→ Comparable to R4, D2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4" y="2286000"/>
            <a:ext cx="3657600" cy="39319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67344" y="2487168"/>
            <a:ext cx="1280160" cy="256032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86EFAC"/>
                </a:solidFill>
              </a:rPr>
              <a:t>2024 · REDWOOD PARTS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8529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</a:rPr>
              <a:t>Analytics Platform 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2918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Built Playwright coverage from zero. Eight flows, CI-gated. IT sign-off within two weeks of delivery.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5303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366F1"/>
                </a:solidFill>
              </a:rPr>
              <a:t>→ Comparable to R3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8FAFC"/>
                </a:solidFill>
              </a:rPr>
              <a:t>Ready to start
week of May 18.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Your ops team has been working around a broken Reports module and a missing
Restocking capability for long enough. We can close both gaps — and leave you
with the test infrastructure to keep them closed.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480560"/>
            <a:ext cx="3474720" cy="12801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4663440"/>
            <a:ext cx="128016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93C5FD"/>
                </a:solidFill>
              </a:rPr>
              <a:t>FIXED FEE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1091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</a:rPr>
              <a:t>$28,500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All four required deliverables.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4480560"/>
            <a:ext cx="3474720" cy="12801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4663440"/>
            <a:ext cx="1280160" cy="256032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86EFAC"/>
                </a:solidFill>
              </a:rPr>
              <a:t>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501091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</a:rPr>
              <a:t>8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IT unblocked week 4. Delivery July 11.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</a:rPr>
              <a:t>Jakub Raczek · Accenture  ·  procurement@meridiancomponents.example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