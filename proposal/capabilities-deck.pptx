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9144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RFP MC-2026-0417 · RISPOSTA ACCENTURE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8FAFC"/>
                </a:solidFill>
                <a:latin typeface="Segoe UI"/>
              </a:defRPr>
            </a:pPr>
            <a:r>
              <a:t>Modernizzazione</a:t>
            </a:r>
            <a:br/>
            <a:r>
              <a:t>Inventory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66344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4A3B8"/>
                </a:solidFill>
                <a:latin typeface="Segoe UI"/>
              </a:defRPr>
            </a:pPr>
            <a:r>
              <a:t>Proposta a Meridian Components, Inc.  —  Aprile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Segoe UI"/>
              </a:defRPr>
            </a:pPr>
            <a:r>
              <a:t>CONTESTO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Segoe UI"/>
              </a:defRPr>
            </a:pPr>
            <a:r>
              <a:t>Il sistema funziona. Ma non abbastanza.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11680"/>
            <a:ext cx="3474720" cy="32004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3108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59E0B"/>
                </a:solidFill>
                <a:latin typeface="Segoe UI"/>
              </a:defRPr>
            </a:pPr>
            <a:r>
              <a:t>PROBLEMA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Reports difettoso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0360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Filtri non cablati, i18n incompleta, pattern API inconsistenti. Il vendor precedente ha chiuso senza risolvere.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011680"/>
            <a:ext cx="3474720" cy="32004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148840"/>
            <a:ext cx="3108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59E0B"/>
                </a:solidFill>
                <a:latin typeface="Segoe UI"/>
              </a:defRPr>
            </a:pPr>
            <a:r>
              <a:t>PROBLEMA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46888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Zero test automatizzati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880360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IT non approva modifiche. Il sistema è bloccato: nessuna feature nuova può andare in produzione in sicurezza.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2011680"/>
            <a:ext cx="3474720" cy="32004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148840"/>
            <a:ext cx="3108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59E0B"/>
                </a:solidFill>
                <a:latin typeface="Segoe UI"/>
              </a:defRPr>
            </a:pPr>
            <a:r>
              <a:t>PROBLEMA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46888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Manca il Restocking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80360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Il team operativo gestisce gli ordini a mano. È la funzionalità più attesa.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Segoe UI"/>
              </a:defRPr>
            </a:pPr>
            <a:r>
              <a:t>ANALISI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Segoe UI"/>
              </a:defRPr>
            </a:pPr>
            <a:r>
              <a:t>Come leggiamo la situazione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—  IT è il gatekeeper: senza test (R3), niente va avanti.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9748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—  Tanaka è la champion: il Restocking è la sua priorità operativa da mesi.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—  Okafor vuole prevedibilità: timeline e not-to-exceed &gt; prezzo basso.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8620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—  Il codice esistente è il punto di partenza — l'handoff del vendor era minimale.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2286000"/>
            <a:ext cx="384048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2286000"/>
            <a:ext cx="54864" cy="1097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2423160"/>
            <a:ext cx="3520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Segoe UI"/>
              </a:defRPr>
            </a:pPr>
            <a:r>
              <a:t>Sequenza giusta: sbloccare (R3+R1) → estendere (R2) → documentare (R4).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R1 — OBBLIGATORIO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Remediation Reports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—  Discovery autonoma sul codice esistente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—  Audit filtri, i18n, pattern API, console noise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—  Fix incrementali con verifica manuale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—  Completato prima della scrittura dei test (R3)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2011680"/>
            <a:ext cx="384048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0" y="21488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Segoe UI"/>
              </a:defRPr>
            </a:pPr>
            <a:r>
              <a:t>ASSUNZIONE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0" y="24688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Nessun elenco bug da Meridian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2880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La discovery è interamente a nostro carico. Stimiamo con margine conservativo.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R2 — OBBLIGATORIO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Vista Restocking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86000"/>
            <a:ext cx="3474720" cy="2743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3108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Segoe UI"/>
              </a:defRPr>
            </a:pPr>
            <a:r>
              <a:t>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Stock + Domanda +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5468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L'operatore inserisce un budget ceiling. Il sistema incrocia stock attuale e forecast di domanda.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286000"/>
            <a:ext cx="3474720" cy="2743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3108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Segoe UI"/>
              </a:defRPr>
            </a:pPr>
            <a:r>
              <a:t>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74320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Ordini raccomandati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15468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Tabella per magazzino e categoria, con quantità e costo stimato. Modificabile prima della conferma.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2286000"/>
            <a:ext cx="3474720" cy="2743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423160"/>
            <a:ext cx="3108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Segoe UI"/>
              </a:defRPr>
            </a:pPr>
            <a:r>
              <a:t>STACK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74320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Vue 3 + FastAPI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15468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Nuovo endpoint /api/restocking. UX concordata con Tanaka prima dell'implementazione.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R3 + R4 — OBBLIGATORI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Segoe UI"/>
              </a:defRPr>
            </a:pPr>
            <a:r>
              <a:t>Test automatizzati e documentazione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03120"/>
            <a:ext cx="5303520" cy="2286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Segoe UI"/>
              </a:defRPr>
            </a:pPr>
            <a:r>
              <a:t>R3 — PLAYWRIGHT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Suite di test browser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Copertura sui flussi critici: Dashboard, Reports con filtri, Restocking. Eseguibile in CI. Scritto dopo R1 e R2.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2103120"/>
            <a:ext cx="5303520" cy="2286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24028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Segoe UI"/>
              </a:defRPr>
            </a:pPr>
            <a:r>
              <a:t>R4 — ARCHITETTURA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56032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Documentazione per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97180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Generata dal codice attuale. Formato HTML standalone: mappa componenti, schema API, flusso dati.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663440"/>
            <a:ext cx="1078992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663440"/>
            <a:ext cx="54864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800600"/>
            <a:ext cx="10469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Segoe UI"/>
              </a:defRPr>
            </a:pPr>
            <a:r>
              <a:t>R3 sblocca IT per approvare modifiche future. È non-negoziabile anche se formalmente è uno dei quattro required.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PIANO DI CONSEGNA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Segoe UI"/>
              </a:defRPr>
            </a:pPr>
            <a:r>
              <a:t>8 settimane, 4 fasi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03120"/>
            <a:ext cx="10789920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563EB"/>
                </a:solidFill>
                <a:latin typeface="Segoe UI"/>
              </a:defRPr>
            </a:pPr>
            <a:r>
              <a:t>FASE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57984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Onboarding + R4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5146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Discovery sul codice, documentazione architetturale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2478024"/>
            <a:ext cx="4572000" cy="7315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0" y="2478024"/>
            <a:ext cx="1143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44200" y="23317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Sett. 1–2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063240"/>
            <a:ext cx="10789920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1546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563EB"/>
                </a:solidFill>
                <a:latin typeface="Segoe UI"/>
              </a:defRPr>
            </a:pPr>
            <a:r>
              <a:t>FASE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118104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R1 — Reports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3474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Audit e remediation dei difetti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3438144"/>
            <a:ext cx="4572000" cy="7315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3438144"/>
            <a:ext cx="2286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44200" y="329184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Sett. 2–4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023360"/>
            <a:ext cx="10789920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114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563EB"/>
                </a:solidFill>
                <a:latin typeface="Segoe UI"/>
              </a:defRPr>
            </a:pPr>
            <a:r>
              <a:t>FASE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4078224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R2 — Restocking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44348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Design UX + implementazione frontend/backend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4398264"/>
            <a:ext cx="4572000" cy="7315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35040" y="4398264"/>
            <a:ext cx="3429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44200" y="425196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Sett. 4–7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983480"/>
            <a:ext cx="10789920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0749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563EB"/>
                </a:solidFill>
                <a:latin typeface="Segoe UI"/>
              </a:defRPr>
            </a:pPr>
            <a:r>
              <a:t>FASE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038344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R3 — Test + Go-live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53949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Suite Playwright, rilascio, approvazione 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5358384"/>
            <a:ext cx="4572000" cy="7315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35040" y="5358384"/>
            <a:ext cx="457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44200" y="521208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Sett. 7–8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Segoe UI"/>
              </a:defRPr>
            </a:pPr>
            <a:r>
              <a:t>T&amp;M con not-to-exceed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94560"/>
            <a:ext cx="1078992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Segoe UI"/>
              </a:defRPr>
            </a:pPr>
            <a:r>
              <a:t>Fase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3317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94A3B8"/>
                </a:solidFill>
                <a:latin typeface="Segoe UI"/>
              </a:defRPr>
            </a:pPr>
            <a:r>
              <a:t>Onboarding + R4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2331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94A3B8"/>
                </a:solidFill>
                <a:latin typeface="Segoe UI"/>
              </a:defRPr>
            </a:pPr>
            <a:r>
              <a:t>10 gg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3317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94A3B8"/>
                </a:solidFill>
                <a:latin typeface="Segoe UI"/>
              </a:defRPr>
            </a:pPr>
            <a:r>
              <a:t>€12.000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852928"/>
            <a:ext cx="10789920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9008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Segoe UI"/>
              </a:defRPr>
            </a:pPr>
            <a:r>
              <a:t>Fase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990088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94A3B8"/>
                </a:solidFill>
                <a:latin typeface="Segoe UI"/>
              </a:defRPr>
            </a:pPr>
            <a:r>
              <a:t>R1 Reports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99008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94A3B8"/>
                </a:solidFill>
                <a:latin typeface="Segoe UI"/>
              </a:defRPr>
            </a:pPr>
            <a:r>
              <a:t>20 gg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990088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94A3B8"/>
                </a:solidFill>
                <a:latin typeface="Segoe UI"/>
              </a:defRPr>
            </a:pPr>
            <a:r>
              <a:t>€21.000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11296"/>
            <a:ext cx="1078992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48456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Segoe UI"/>
              </a:defRPr>
            </a:pPr>
            <a:r>
              <a:t>Fase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648456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94A3B8"/>
                </a:solidFill>
                <a:latin typeface="Segoe UI"/>
              </a:defRPr>
            </a:pPr>
            <a:r>
              <a:t>R2 Restocking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648456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94A3B8"/>
                </a:solidFill>
                <a:latin typeface="Segoe UI"/>
              </a:defRPr>
            </a:pPr>
            <a:r>
              <a:t>30 gg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648456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94A3B8"/>
                </a:solidFill>
                <a:latin typeface="Segoe UI"/>
              </a:defRPr>
            </a:pPr>
            <a:r>
              <a:t>€31.500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169664"/>
            <a:ext cx="10789920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06824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Segoe UI"/>
              </a:defRPr>
            </a:pPr>
            <a:r>
              <a:t>Fase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4306824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94A3B8"/>
                </a:solidFill>
                <a:latin typeface="Segoe UI"/>
              </a:defRPr>
            </a:pPr>
            <a:r>
              <a:t>R3 Test + rilascio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06824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94A3B8"/>
                </a:solidFill>
                <a:latin typeface="Segoe UI"/>
              </a:defRPr>
            </a:pPr>
            <a:r>
              <a:t>5 gg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4306824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94A3B8"/>
                </a:solidFill>
                <a:latin typeface="Segoe UI"/>
              </a:defRPr>
            </a:pPr>
            <a:r>
              <a:t>€6.000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828032"/>
            <a:ext cx="1078992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96519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F59E0B"/>
                </a:solidFill>
                <a:latin typeface="Segoe UI"/>
              </a:defRPr>
            </a:pPr>
            <a:r>
              <a:t>Contingency 15%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496519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94A3B8"/>
                </a:solidFill>
                <a:latin typeface="Segoe UI"/>
              </a:defRPr>
            </a:pPr>
            <a:r>
              <a:t>Discovery, iterazioni 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96519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94A3B8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965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94A3B8"/>
                </a:solidFill>
                <a:latin typeface="Segoe UI"/>
              </a:defRPr>
            </a:pPr>
            <a:r>
              <a:t>€10.500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486400"/>
            <a:ext cx="10789920" cy="59436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6235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8FAFC"/>
                </a:solidFill>
                <a:latin typeface="Segoe UI"/>
              </a:defRPr>
            </a:pPr>
            <a:r>
              <a:t>Not-to-exceed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562356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Segoe UI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7040880" y="56235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4A3B8"/>
                </a:solidFill>
                <a:latin typeface="Segoe UI"/>
              </a:defRPr>
            </a:pPr>
            <a:r>
              <a:t>65 gg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56235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8FAFC"/>
                </a:solidFill>
                <a:latin typeface="Segoe UI"/>
              </a:defRPr>
            </a:pPr>
            <a:r>
              <a:t>€81.000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ESPERIENZA RILEVANTE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Segoe UI"/>
              </a:defRPr>
            </a:pPr>
            <a:r>
              <a:t>Tre engagement analoghi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03120"/>
            <a:ext cx="3474720" cy="32004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3108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Segoe UI"/>
              </a:defRPr>
            </a:pPr>
            <a:r>
              <a:t>ENGAGEMENT 1 · EMEA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Dashboard operativa manifatturiera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Rilevato e completato sistema incompleto da vendor precedente. Vue 3 + FastAPI.</a:t>
            </a:r>
            <a:br/>
            <a:r>
              <a:t>→ R1 + R2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103120"/>
            <a:ext cx="3474720" cy="32004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240280"/>
            <a:ext cx="3108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Segoe UI"/>
              </a:defRPr>
            </a:pPr>
            <a:r>
              <a:t>ENGAGEMENT 2 · SAAS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560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Test automation logistics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971800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Suite Playwright su frontend Vue 3 privo di test. IT come gatekeeper.</a:t>
            </a:r>
            <a:br/>
            <a:r>
              <a:t>→ R3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2103120"/>
            <a:ext cx="3474720" cy="32004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240280"/>
            <a:ext cx="3108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Segoe UI"/>
              </a:defRPr>
            </a:pPr>
            <a:r>
              <a:t>ENGAGEMENT 3 · APAC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60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i18n + UI refresh warehouse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71800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Estensione i18n a team giapponese e refresh design system.</a:t>
            </a:r>
            <a:br/>
            <a:r>
              <a:t>→ D1 + D2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D1 · D2 · D3 — DESIDERATI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Segoe UI"/>
              </a:defRPr>
            </a:pPr>
            <a:r>
              <a:t>Pronti quando il perimetro lo permette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03120"/>
            <a:ext cx="3474720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3108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563EB"/>
                </a:solidFill>
                <a:latin typeface="Segoe UI"/>
              </a:defRPr>
            </a:pPr>
            <a:r>
              <a:t>D1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UI modernization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Refresh visivo con design tokens. Direzione concordata con il team operativo, non imposta.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103120"/>
            <a:ext cx="3474720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240280"/>
            <a:ext cx="3108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563EB"/>
                </a:solidFill>
                <a:latin typeface="Segoe UI"/>
              </a:defRPr>
            </a:pPr>
            <a:r>
              <a:t>D2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560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Internazionalizzazione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97180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Estensione i18n al team di Tokyo (giapponese). Esperienza diretta su contesti simili.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2103120"/>
            <a:ext cx="3474720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240280"/>
            <a:ext cx="3108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563EB"/>
                </a:solidFill>
                <a:latin typeface="Segoe UI"/>
              </a:defRPr>
            </a:pPr>
            <a:r>
              <a:t>D3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60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Dark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7180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Toggle lato operatore con CSS custom properties. Per le stazioni in ambienti a bassa luminosità.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029200"/>
            <a:ext cx="10789920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029200"/>
            <a:ext cx="54864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66360"/>
            <a:ext cx="10469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Segoe UI"/>
              </a:defRPr>
            </a:pPr>
            <a:r>
              <a:t>Stima separata disponibile su richiesta. Orientativamente 3–4 settimane aggiuntive.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PERCHÉ ACCENTURE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Lo stesso stack.</a:t>
            </a:r>
            <a:br/>
            <a:r>
              <a:t>Lo stesso contesto.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6858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—  Già lavorato su sistemi Vue 3 + FastAPI lasciati incompleti da vendor precedenti.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6858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—  Conosciamo il pattern IT-gatekeeper: R3 non è optional, è il prerequisito di tutto.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40"/>
            <a:ext cx="6858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—  Lavoro incrementale: ogni fase ha un deliverable verificabile.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343400"/>
            <a:ext cx="6858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—  Not-to-exceed: certezza sul budget come impegno contrattuale.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286000"/>
            <a:ext cx="16459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10B981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56616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settimane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2286000"/>
            <a:ext cx="16459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10B981"/>
                </a:solidFill>
                <a:latin typeface="Segoe UI"/>
              </a:defRPr>
            </a:pPr>
            <a:r>
              <a:t>€81K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356616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not-to-exceed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PROSSIMI PASSI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Come andiamo avanti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94560"/>
            <a:ext cx="3474720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3108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Segoe UI"/>
              </a:defRPr>
            </a:pPr>
            <a: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Aggiudicazione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Firma contratto entro la settimana di aggiudicazione. Kick-off entro 3 giorni lavorativi.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194560"/>
            <a:ext cx="3474720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31720"/>
            <a:ext cx="3108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Segoe UI"/>
              </a:defRPr>
            </a:pPr>
            <a: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5176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Accesso ambiente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06324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Accesso al repo e all'ambiente di sviluppo entro fine settimana 1. Dipendenza lato Meridian.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2194560"/>
            <a:ext cx="3474720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331720"/>
            <a:ext cx="3108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Segoe UI"/>
              </a:defRPr>
            </a:pPr>
            <a:r>
              <a:t>STEP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65176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Sessione con Tanaka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06324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~1 ora prima della Fase 3 per validare la UX del Restocking. Nessuna implementazione prima.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029200"/>
            <a:ext cx="10789920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029200"/>
            <a:ext cx="54864" cy="822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66360"/>
            <a:ext cx="10469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Segoe UI"/>
              </a:defRPr>
            </a:pPr>
            <a:r>
              <a:t>Domande? procurement@meridiancomponents.example  —  Scadenza chiarimenti: 28 aprile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