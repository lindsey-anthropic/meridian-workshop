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22960" y="868680"/>
            <a:ext cx="201168" cy="201168"/>
          </a:xfrm>
          <a:prstGeom prst="diamond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822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8EEFC"/>
                </a:solidFill>
                <a:latin typeface="Calibri"/>
              </a:rPr>
              <a:t>NORTHBEAM</a:t>
            </a:r>
            <a:r>
              <a:rPr sz="1400" b="0" i="0">
                <a:solidFill>
                  <a:srgbClr val="7E8CAB"/>
                </a:solidFill>
                <a:latin typeface="Calibri"/>
              </a:rPr>
              <a:t>   ·   Capabilities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RFP MC-2026-0417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200" b="1" i="0">
                <a:solidFill>
                  <a:srgbClr val="E8EEFC"/>
                </a:solidFill>
                <a:latin typeface="Calibri"/>
              </a:rPr>
              <a:t>Modernizing Meridian's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200" b="1" i="0">
                <a:solidFill>
                  <a:srgbClr val="06B6D4"/>
                </a:solidFill>
                <a:latin typeface="Calibri"/>
              </a:rPr>
              <a:t>Inventory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8686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8C4DE"/>
                </a:solidFill>
                <a:latin typeface="Calibri"/>
              </a:rPr>
              <a:t>A plan to restore trust in the system your operations team uses every day — and to extend it with the capability they've been waiting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E8CAB"/>
                </a:solidFill>
                <a:latin typeface="Calibri"/>
              </a:rPr>
              <a:t>Prepared for Meridian Components, Inc.  ·  Director of Procurement, J. Okafor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The real problem isn't one bug — it's </a:t>
            </a:r>
            <a:r>
              <a:rPr sz="3000" b="1" i="0">
                <a:solidFill>
                  <a:srgbClr val="06B6D4"/>
                </a:solidFill>
                <a:latin typeface="Calibri"/>
              </a:rPr>
              <a:t>consistency and safe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71418" cy="246888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Reports can't be trusted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Built to a different standard than the rest of the dashboard: no filters, bypasses the shared data layer, leaks diagnostics, non-localized formatting.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286000"/>
            <a:ext cx="3271418" cy="246888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4458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Change is frozen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352044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With no automated tests, IT won't approve releases — which blocks every other improvement the team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286000"/>
            <a:ext cx="3271418" cy="246888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1636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Restocking doesn't exist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352044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The capability operations leadership most wants — budget-aware reorder guidance — was never started.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E8CAB"/>
                </a:solidFill>
                <a:latin typeface="Calibri"/>
              </a:rPr>
              <a:t>Fix the shape, not just the symptoms: </a:t>
            </a:r>
            <a:r>
              <a:rPr sz="1500" b="1" i="0">
                <a:solidFill>
                  <a:srgbClr val="E8EEFC"/>
                </a:solidFill>
                <a:latin typeface="Calibri"/>
              </a:rPr>
              <a:t>restore consistency, make change safe, then extend.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WHY NORTHBEAM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We've done all three — together, in the right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71418" cy="246888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Inherited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We raise the weakest module to the standard of the best — without rewriting what already 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286000"/>
            <a:ext cx="3271418" cy="246888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4458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UNBLOCKING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Test-driven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352044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We've turned “can't safely change it” into “change with confidence” for frozen, business-critical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286000"/>
            <a:ext cx="3271418" cy="246888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1636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Budget-aware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352044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We've shipped exactly this kind of demand-driven, budget-bounded recommendation tool.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E8CAB"/>
                </a:solidFill>
                <a:latin typeface="Calibri"/>
              </a:rPr>
              <a:t>Meridian needs all three at once, on one inherited codebase, without destabilizing it. </a:t>
            </a:r>
            <a:r>
              <a:rPr sz="1500" b="1" i="0">
                <a:solidFill>
                  <a:srgbClr val="E8EEFC"/>
                </a:solidFill>
                <a:latin typeface="Calibri"/>
              </a:rPr>
              <a:t>That's our core competency.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SCOPE OF WORK · MERIDIAN'S PRIORITY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Four required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90007" cy="141732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45059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50592"/>
            <a:ext cx="35355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Reports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413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Audit and resolve all defects — and bring Reports to full parity with the rest of the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94560"/>
            <a:ext cx="5090007" cy="141732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3047" y="245059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87" y="2450592"/>
            <a:ext cx="35355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Restocking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971800"/>
            <a:ext cx="45413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A new view that turns stock, demand, and a budget ceiling into actionable purchase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5090007" cy="141732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1422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42232"/>
            <a:ext cx="35355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Automated browser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5413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End-to-end coverage of critical flows so IT can safely approve future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886200"/>
            <a:ext cx="5090007" cy="141732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53047" y="414223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R4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8887" y="4142232"/>
            <a:ext cx="35355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Architecture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663440"/>
            <a:ext cx="45413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A current-state overview suitable for handoff to Meridian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Plus desired items — UI modernization, internationalization, dark mode — scoped as opt-in enhancements.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We sequence the work to </a:t>
            </a:r>
            <a:r>
              <a:rPr sz="3000" b="1" i="0">
                <a:solidFill>
                  <a:srgbClr val="06B6D4"/>
                </a:solidFill>
                <a:latin typeface="Calibri"/>
              </a:rPr>
              <a:t>de-risk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1926275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9262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9262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703320"/>
            <a:ext cx="17068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Architecture review (R4)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7835" y="2651760"/>
            <a:ext cx="1926275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7835" y="2880360"/>
            <a:ext cx="19262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7835" y="3246120"/>
            <a:ext cx="19262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7563" y="3703320"/>
            <a:ext cx="17068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Coverage (R3) — make change safe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2710" y="2651760"/>
            <a:ext cx="1926275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2710" y="2880360"/>
            <a:ext cx="19262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2710" y="3246120"/>
            <a:ext cx="19262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Remediate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2438" y="3703320"/>
            <a:ext cx="17068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Reports (R1) — restore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7585" y="2651760"/>
            <a:ext cx="1926275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585" y="2880360"/>
            <a:ext cx="19262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585" y="3246120"/>
            <a:ext cx="19262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313" y="3703320"/>
            <a:ext cx="17068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Restocking (R2)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42460" y="2651760"/>
            <a:ext cx="1926275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2460" y="2880360"/>
            <a:ext cx="19262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2460" y="3246120"/>
            <a:ext cx="192627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Enhance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2188" y="3703320"/>
            <a:ext cx="17068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D1–D3 — opt-in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E8CAB"/>
                </a:solidFill>
                <a:latin typeface="Calibri"/>
              </a:rPr>
              <a:t>Documentation and tests come </a:t>
            </a:r>
            <a:r>
              <a:rPr sz="1500" b="1" i="0">
                <a:solidFill>
                  <a:srgbClr val="E8EEFC"/>
                </a:solidFill>
                <a:latin typeface="Calibri"/>
              </a:rPr>
              <a:t>first</a:t>
            </a:r>
            <a:r>
              <a:rPr sz="1500" b="0" i="0">
                <a:solidFill>
                  <a:srgbClr val="7E8CAB"/>
                </a:solidFill>
                <a:latin typeface="Calibri"/>
              </a:rPr>
              <a:t> — unknowns surfaced and a safety net in place before we change a line of production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R1 · REPORTS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Raise the weakest module to the standard of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8C4DE"/>
                </a:solidFill>
                <a:latin typeface="Calibri"/>
              </a:rPr>
              <a:t>We reviewed the code: the backend reporting endpoints are sound, so the defects are concentrated in the frontend. We will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B8C4DE"/>
                </a:solidFill>
                <a:latin typeface="Calibri"/>
              </a:rPr>
              <a:t>Restore filter parity with the rest of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B8C4DE"/>
                </a:solidFill>
                <a:latin typeface="Calibri"/>
              </a:rPr>
              <a:t>Route through the shared data layer instead of hard-coded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6849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B8C4DE"/>
                </a:solidFill>
                <a:latin typeface="Calibri"/>
              </a:rPr>
              <a:t>Remove diagnostic logging that reaches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3542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B8C4DE"/>
                </a:solidFill>
                <a:latin typeface="Calibri"/>
              </a:rPr>
              <a:t>Replace hand-rolled formatting with locale-aware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023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✓  </a:t>
            </a:r>
            <a:r>
              <a:rPr sz="1600" b="0" i="0">
                <a:solidFill>
                  <a:srgbClr val="B8C4DE"/>
                </a:solidFill>
                <a:latin typeface="Calibri"/>
              </a:rPr>
              <a:t>Align the module to the project's framework 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R2 · RESTOCKING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From stock + demand + budget → </a:t>
            </a:r>
            <a:r>
              <a:rPr sz="3000" b="1" i="0">
                <a:solidFill>
                  <a:srgbClr val="06B6D4"/>
                </a:solidFill>
                <a:latin typeface="Calibri"/>
              </a:rPr>
              <a:t>ranked purchase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2430703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2430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307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Budget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611880"/>
            <a:ext cx="22112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Operator sets the spend limit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560320"/>
            <a:ext cx="2430703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7983" y="2788920"/>
            <a:ext cx="2430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154680"/>
            <a:ext cx="24307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Reorder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711" y="3611880"/>
            <a:ext cx="22112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Demand &amp; reorder point vs. on-hand, by SKU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6" y="2560320"/>
            <a:ext cx="2430703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6" y="2788920"/>
            <a:ext cx="2430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6" y="3154680"/>
            <a:ext cx="24307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By 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734" y="3611880"/>
            <a:ext cx="22112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Costed using unit cost &amp; trend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8029" y="2560320"/>
            <a:ext cx="2430703" cy="173736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8029" y="2788920"/>
            <a:ext cx="2430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29" y="3154680"/>
            <a:ext cx="24307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EEFC"/>
                </a:solidFill>
                <a:latin typeface="Calibri"/>
              </a:rPr>
              <a:t>Actionable 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7757" y="3611880"/>
            <a:ext cx="221124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E8CAB"/>
                </a:solidFill>
                <a:latin typeface="Calibri"/>
              </a:rPr>
              <a:t>Max coverage within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E8CAB"/>
                </a:solidFill>
                <a:latin typeface="Calibri"/>
              </a:rPr>
              <a:t>The data ingredients already exist in the system. We confirm prioritization with operations early — recommendations match how the team actually thinks — and cover it with tests from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R3 · AUTOMATED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The requirement that </a:t>
            </a:r>
            <a:r>
              <a:rPr sz="3000" b="1" i="0">
                <a:solidFill>
                  <a:srgbClr val="06B6D4"/>
                </a:solidFill>
                <a:latin typeface="Calibri"/>
              </a:rPr>
              <a:t>unblocks all the others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90007" cy="210312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5413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Comprehensive,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4136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Core navigation, filtering, the remediated Reports page, the new Restocking flow, plus Spending &amp; Orders — including error and empty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86000"/>
            <a:ext cx="5090007" cy="210312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3047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017520"/>
            <a:ext cx="45413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Runnable by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474720"/>
            <a:ext cx="454136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Delivered as a Playwright suite with clear run instructions, ready for CI — so IT can adopt it as the gate for every future release.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E8CAB"/>
                </a:solidFill>
                <a:latin typeface="Calibri"/>
              </a:rPr>
              <a:t>Today, “no tests” is why the system is frozen. We turn that into </a:t>
            </a:r>
            <a:r>
              <a:rPr sz="1500" b="1" i="0">
                <a:solidFill>
                  <a:srgbClr val="E8EEFC"/>
                </a:solidFill>
                <a:latin typeface="Calibri"/>
              </a:rPr>
              <a:t>change with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R4 · ARCHITECTURE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Our first deliverable — and our own first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90007" cy="228600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5413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Current-state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541367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Frontend, backend, data layer, request/response flow, the API surface, and where the codebase deviates from its own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86000"/>
            <a:ext cx="5090007" cy="228600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3047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WHY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017520"/>
            <a:ext cx="45413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C"/>
                </a:solidFill>
                <a:latin typeface="Calibri"/>
              </a:rPr>
              <a:t>De-risk everything after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474720"/>
            <a:ext cx="4541367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Surfaces unknowns before they affect estimates, and becomes the reference the tests and remediation are written against. Durable handoff for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TIMELINE · 8 WEEKS, REQUIRED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Acceptance-gated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19456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19456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94560"/>
            <a:ext cx="524225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Exit deliverable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61488"/>
            <a:ext cx="10545775" cy="566928"/>
          </a:xfrm>
          <a:prstGeom prst="rect">
            <a:avLst/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Onboarding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761488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761488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R4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61488"/>
            <a:ext cx="524225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4DE"/>
                </a:solidFill>
                <a:latin typeface="Calibri"/>
              </a:rPr>
              <a:t>Architecture overview accepted by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28416"/>
            <a:ext cx="10545775" cy="566928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28416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Test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28416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2–4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328416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28416"/>
            <a:ext cx="524225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4DE"/>
                </a:solidFill>
                <a:latin typeface="Calibri"/>
              </a:rPr>
              <a:t>Passing suite accepted by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895344"/>
            <a:ext cx="10545775" cy="566928"/>
          </a:xfrm>
          <a:prstGeom prst="rect">
            <a:avLst/>
          </a:prstGeom>
          <a:solidFill>
            <a:srgbClr val="10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95344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Reports 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895344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895344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R1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95344"/>
            <a:ext cx="524225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4DE"/>
                </a:solidFill>
                <a:latin typeface="Calibri"/>
              </a:rPr>
              <a:t>Remediated Reports, regression-tested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462272"/>
            <a:ext cx="10545775" cy="566928"/>
          </a:xfrm>
          <a:prstGeom prst="rect">
            <a:avLst/>
          </a:prstGeom>
          <a:solidFill>
            <a:srgbClr val="0E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62272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Restocking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462272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6–8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462272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8EEFC"/>
                </a:solidFill>
                <a:latin typeface="Calibri"/>
              </a:rPr>
              <a:t>R2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462272"/>
            <a:ext cx="524225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4DE"/>
                </a:solidFill>
                <a:latin typeface="Calibri"/>
              </a:rPr>
              <a:t>Restocking view in operators' hands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Front-loaded de-risking; every phase ends in a defined, accepted deliverable tied to a payment milestone.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PRICING · PREDICTABLE WHERE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Fixed on the required. </a:t>
            </a:r>
            <a:r>
              <a:rPr sz="3000" b="1" i="0">
                <a:solidFill>
                  <a:srgbClr val="06B6D4"/>
                </a:solidFill>
                <a:latin typeface="Calibri"/>
              </a:rPr>
              <a:t>Capped</a:t>
            </a:r>
            <a:r>
              <a:rPr sz="3000" b="1" i="0">
                <a:solidFill>
                  <a:srgbClr val="E8EEFC"/>
                </a:solidFill>
                <a:latin typeface="Calibri"/>
              </a:rPr>
              <a:t> on the optional.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71418" cy="274320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7227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REQUIRED SCOPE · R1–R4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272277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6B6D4"/>
                </a:solidFill>
                <a:latin typeface="Calibri"/>
              </a:rPr>
              <a:t>$96,000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E"/>
                </a:solidFill>
                <a:latin typeface="Calibri"/>
              </a:rPr>
              <a:t>Fixed fee, invoiced on acceptance milestones. The risks we identified are ours to manage within it — not change orders waiting to happen.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286000"/>
            <a:ext cx="3271418" cy="274320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4458" y="2560320"/>
            <a:ext cx="27227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DESIRED SCOPE · D1–D3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2971800"/>
            <a:ext cx="272277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8EEFC"/>
                </a:solidFill>
                <a:latin typeface="Calibri"/>
              </a:rPr>
              <a:t>≤ $30,500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384048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E"/>
                </a:solidFill>
                <a:latin typeface="Calibri"/>
              </a:rPr>
              <a:t>T&amp;M with a hard not-to-exceed ceiling. Commission any, all, or none — without touching the required fee or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286000"/>
            <a:ext cx="3271418" cy="274320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1636" y="2560320"/>
            <a:ext cx="27227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E8CAB"/>
                </a:solidFill>
                <a:latin typeface="Calibri"/>
              </a:rPr>
              <a:t>DESIGN SYSTEM &amp; TOOLING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2971800"/>
            <a:ext cx="272277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4D399"/>
                </a:solidFill>
                <a:latin typeface="Calibri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3840480"/>
            <a:ext cx="272277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E"/>
                </a:solidFill>
                <a:latin typeface="Calibri"/>
              </a:rPr>
              <a:t>Included. Reusable components that make the whole engagement faster — and cheaper.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E8CAB"/>
                </a:solidFill>
                <a:latin typeface="Calibri"/>
              </a:rPr>
              <a:t>A known number for what Meridian needs; a hard ceiling on what's optional. </a:t>
            </a:r>
            <a:r>
              <a:rPr sz="1300" b="0" i="1">
                <a:solidFill>
                  <a:srgbClr val="B8C4DE"/>
                </a:solidFill>
                <a:latin typeface="Calibri"/>
              </a:rPr>
              <a:t>Figures firm for required scope, confirmed after the architecture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THE NORTHBEAM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E8EEFC"/>
                </a:solidFill>
                <a:latin typeface="Calibri"/>
              </a:rPr>
              <a:t>Our design system makes us </a:t>
            </a:r>
            <a:r>
              <a:rPr sz="3000" b="1" i="0">
                <a:solidFill>
                  <a:srgbClr val="06B6D4"/>
                </a:solidFill>
                <a:latin typeface="Calibri"/>
              </a:rPr>
              <a:t>faster, cheaper, and safer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71418" cy="237744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LOWER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Savings passed 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72277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We assemble UI from proven, production-ready components instead of building each from scratch. The desired-scope price reflects that — the saving is yours.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286000"/>
            <a:ext cx="3271418" cy="237744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34458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DE-RISKED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4458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“Current standards,” 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3520440"/>
            <a:ext cx="272277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The system already meets a modern accessibility and consistency baseline — so the UI refresh (D1) starts from a mature foundation, not an undefined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286000"/>
            <a:ext cx="3271418" cy="2377440"/>
          </a:xfrm>
          <a:prstGeom prst="roundRect">
            <a:avLst>
              <a:gd name="adj" fmla="val 6000"/>
            </a:avLst>
          </a:prstGeom>
          <a:solidFill>
            <a:srgbClr val="101A33"/>
          </a:solidFill>
          <a:ln w="12700">
            <a:solidFill>
              <a:srgbClr val="1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71636" y="2560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62A4D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000" b="1" i="0">
                <a:solidFill>
                  <a:srgbClr val="CFE2FF"/>
                </a:solidFill>
                <a:latin typeface="Calibri"/>
              </a:rPr>
              <a:t>BETTER REQUIRED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3017520"/>
            <a:ext cx="27227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EFC"/>
                </a:solidFill>
                <a:latin typeface="Calibri"/>
              </a:rPr>
              <a:t>Quality, at no extra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3520440"/>
            <a:ext cx="272277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7E8CAB"/>
                </a:solidFill>
                <a:latin typeface="Calibri"/>
              </a:rPr>
              <a:t>The same tooling keeps the codebase consistent during R1 remediation and underpins the R3 test suite.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6B6D4"/>
                </a:solidFill>
                <a:latin typeface="Calibri"/>
              </a:rPr>
              <a:t>$0</a:t>
            </a:r>
            <a:r>
              <a:rPr sz="1300" b="0" i="0">
                <a:solidFill>
                  <a:srgbClr val="7E8CAB"/>
                </a:solidFill>
                <a:latin typeface="Calibri"/>
              </a:rPr>
              <a:t>   added cost — folded into the prices, in Meridian's favor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21208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4D399"/>
                </a:solidFill>
                <a:latin typeface="Calibri"/>
              </a:rPr>
              <a:t>8 wks</a:t>
            </a:r>
            <a:r>
              <a:rPr sz="1300" b="0" i="0">
                <a:solidFill>
                  <a:srgbClr val="7E8CAB"/>
                </a:solidFill>
                <a:latin typeface="Calibri"/>
              </a:rPr>
              <a:t>   to deliver the full required scope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22960" y="868680"/>
            <a:ext cx="201168" cy="201168"/>
          </a:xfrm>
          <a:prstGeom prst="diamond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822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8EEFC"/>
                </a:solidFill>
                <a:latin typeface="Calibri"/>
              </a:rPr>
              <a:t>NORTHBEAM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0">
                <a:solidFill>
                  <a:srgbClr val="E8EEFC"/>
                </a:solidFill>
                <a:latin typeface="Calibri"/>
              </a:rPr>
              <a:t>Let's make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0">
                <a:solidFill>
                  <a:srgbClr val="E8EEFC"/>
                </a:solidFill>
                <a:latin typeface="Calibri"/>
              </a:rPr>
              <a:t>something the team </a:t>
            </a:r>
            <a:r>
              <a:rPr sz="4000" b="1" i="0">
                <a:solidFill>
                  <a:srgbClr val="06B6D4"/>
                </a:solidFill>
                <a:latin typeface="Calibri"/>
              </a:rPr>
              <a:t>reaches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8C4DE"/>
                </a:solidFill>
                <a:latin typeface="Calibri"/>
              </a:rPr>
              <a:t>We've scoped this from Meridian's actual codebase, not a template. We're confident in the plan, the timeline, and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E8CAB"/>
                </a:solidFill>
                <a:latin typeface="Calibri"/>
              </a:rPr>
              <a:t>Thank you · Questions welcome — procurement@meridiancomponents.example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