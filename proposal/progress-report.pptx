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75569"/>
                </a:solidFill>
              </a:rPr>
              <a:t>ACCENTURE&amp;CT CONSULTING  ·  MERIDIAN COMPONENTS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1097280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ENGAGEMENT PROGRESS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8FAFC"/>
                </a:solidFill>
              </a:rPr>
              <a:t>Sprint Review
R1 · R2 · R3 · R4 + D1 · D2 · D3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</a:rPr>
              <a:t>All required deliverables + all optional enhancements complete.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April 27, 2026  ·  branch: feature/meridian-engagement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DELIVERY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</a:rPr>
              <a:t>R1 – R4 at a glance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868680"/>
            <a:ext cx="1828800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2377440"/>
            <a:ext cx="2651760" cy="38404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54203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R1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90779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</a:rPr>
              <a:t>Reports
Remediation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" y="3456432"/>
            <a:ext cx="1737360" cy="292608"/>
          </a:xfrm>
          <a:prstGeom prst="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348386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C55E"/>
                </a:solidFill>
              </a:rPr>
              <a:t>COMPLETE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913632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CBD5E1"/>
                </a:solidFill>
              </a:rPr>
              <a:t>• Options → Composition API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BD5E1"/>
                </a:solidFill>
              </a:rPr>
              <a:t>• Filters wired (warehouse/category)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BD5E1"/>
                </a:solidFill>
              </a:rPr>
              <a:t>• API endpoints patched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BD5E1"/>
                </a:solidFill>
              </a:rPr>
              <a:t>• Zero console errors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2377440"/>
            <a:ext cx="2651760" cy="38404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54203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R2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90779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</a:rPr>
              <a:t>Restocking
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3456432"/>
            <a:ext cx="1737360" cy="292608"/>
          </a:xfrm>
          <a:prstGeom prst="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7872" y="348386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C55E"/>
                </a:solidFill>
              </a:rPr>
              <a:t>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913632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CBD5E1"/>
                </a:solidFill>
              </a:rPr>
              <a:t>• /api/restocking endpoint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BD5E1"/>
                </a:solidFill>
              </a:rPr>
              <a:t>• Budget ceiling + priority rank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BD5E1"/>
                </a:solidFill>
              </a:rPr>
              <a:t>• New Restocking.vue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BD5E1"/>
                </a:solidFill>
              </a:rPr>
              <a:t>• EN + JA locale keys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17336" y="2377440"/>
            <a:ext cx="2651760" cy="38404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1927" y="254203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R3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7" y="290779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</a:rPr>
              <a:t>Automated
Tests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81927" y="3456432"/>
            <a:ext cx="1737360" cy="292608"/>
          </a:xfrm>
          <a:prstGeom prst="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79" y="348386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C55E"/>
                </a:solidFill>
              </a:rPr>
              <a:t>COMPLETE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7" y="3913632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CBD5E1"/>
                </a:solidFill>
              </a:rPr>
              <a:t>• Playwright e2e suite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BD5E1"/>
                </a:solidFill>
              </a:rPr>
              <a:t>• 59 / 59 tests passing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BD5E1"/>
                </a:solidFill>
              </a:rPr>
              <a:t>• All views covered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BD5E1"/>
                </a:solidFill>
              </a:rPr>
              <a:t>• Filters + edge cases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24544" y="2377440"/>
            <a:ext cx="2651760" cy="38404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89136" y="254203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R4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90779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</a:rPr>
              <a:t>Architecture
Docs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89136" y="3456432"/>
            <a:ext cx="1737360" cy="292608"/>
          </a:xfrm>
          <a:prstGeom prst="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348386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C55E"/>
                </a:solidFill>
              </a:rPr>
              <a:t>COMPLETE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89136" y="3913632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CBD5E1"/>
                </a:solidFill>
              </a:rPr>
              <a:t>• HTML architecture diagram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BD5E1"/>
                </a:solidFill>
              </a:rPr>
              <a:t>• 15-endpoint API reference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BD5E1"/>
                </a:solidFill>
              </a:rPr>
              <a:t>• Mock data layer docs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BD5E1"/>
                </a:solidFill>
              </a:rPr>
              <a:t>• IT handoff notes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737360" cy="292608"/>
          </a:xfrm>
          <a:prstGeom prst="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3891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C55E"/>
                </a:solidFill>
              </a:rPr>
              <a:t>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R1 · Reports Remediation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</a:rPr>
              <a:t>All defects resolved.
Zero console errors.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2651760" cy="210312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603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Options API → Composition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175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Full rewrite of Reports.vue to Composition API pattern consistent with the rest of the codebase. Reactive state, watchers, computed properties.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55848" y="2468880"/>
            <a:ext cx="2651760" cy="210312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3008" y="25603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Filters fully wired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30175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Warehouse and Category params added to /api/reports/quarterly and /api/reports/monthly-trends. Watch on both filters triggers data reload.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3056" y="2468880"/>
            <a:ext cx="2651760" cy="210312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216" y="25603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i18n gaps closed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30175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All labels, headings, and table columns routed through t() calls. English and Japanese locale keys complete.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70264" y="2468880"/>
            <a:ext cx="2651760" cy="210312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7424" y="25603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Console noise eliminated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7424" y="30175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No console.log calls, no uncaught errors, no stray warnings on page load or filter change.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737360" cy="292608"/>
          </a:xfrm>
          <a:prstGeom prst="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3891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C55E"/>
                </a:solidFill>
              </a:rPr>
              <a:t>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R2 · Restocking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</a:rPr>
              <a:t>New view live.
Budget ceiling + demand scoring.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5486400" cy="36576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CBD5E1"/>
                </a:solidFill>
              </a:rPr>
              <a:t>→  Stock gap = reorder_point − quantity_on_hand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CBD5E1"/>
                </a:solidFill>
              </a:rPr>
              <a:t>→  Priority score: gap + bonus for 'increasing' demand trend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CBD5E1"/>
                </a:solidFill>
              </a:rPr>
              <a:t>→  Budget ceiling: greedy selection, within_budget flag per row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CBD5E1"/>
                </a:solidFill>
              </a:rPr>
              <a:t>→  Operator applies budget via button (not on every keystroke)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CBD5E1"/>
                </a:solidFill>
              </a:rPr>
              <a:t>→  Filters: warehouse + category reload recommendations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CBD5E1"/>
                </a:solidFill>
              </a:rPr>
              <a:t>→  Status column appears only when budget &gt; 0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2468880"/>
            <a:ext cx="5577840" cy="36576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6060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Summary stats delivered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1089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■  Items at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383279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23 SKUs understocked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76732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■  Total Restock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04164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Full cost if all ordered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42569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■  Within Budget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70001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Items within ceiling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08406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■  Budget Remaining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5358383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Unspent allocation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737360" cy="292608"/>
          </a:xfrm>
          <a:prstGeom prst="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3891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C55E"/>
                </a:solidFill>
              </a:rPr>
              <a:t>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R3 · Automated Browser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8FAFC"/>
                </a:solidFill>
              </a:rPr>
              <a:t>59 / 59 tests passing.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0972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22C55E"/>
                </a:solidFill>
              </a:rPr>
              <a:t>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passing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23160"/>
            <a:ext cx="3749039" cy="64008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780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navigation.spec.js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47802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2C55E"/>
                </a:solidFill>
              </a:rPr>
              <a:t>3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5234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Nav bar, route loading, active link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423160"/>
            <a:ext cx="3749039" cy="64008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4780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filters.spec.js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59" y="247802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2C55E"/>
                </a:solidFill>
              </a:rPr>
              <a:t>5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75234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All 4 controls, options, reset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423160"/>
            <a:ext cx="3749039" cy="64008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4780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dashboard.spec.js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59" y="247802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2C55E"/>
                </a:solidFill>
              </a:rPr>
              <a:t>6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75234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Title, KPIs, Order Health, charts, filters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72968"/>
            <a:ext cx="3749039" cy="64008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2278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inventory.spec.js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2278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2C55E"/>
                </a:solidFill>
              </a:rPr>
              <a:t>6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50215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Table, columns, Location/Category filters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3172968"/>
            <a:ext cx="3749039" cy="64008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2278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orders.spec.js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59" y="32278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2C55E"/>
                </a:solidFill>
              </a:rPr>
              <a:t>5 tests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50215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Table, columns, Status/Location/Period filters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3172968"/>
            <a:ext cx="3749039" cy="64008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32278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reports.spec.js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59" y="32278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2C55E"/>
                </a:solidFill>
              </a:rPr>
              <a:t>8 tests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350215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Quarterly table, MoM, bar chart, stats, filters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922776"/>
            <a:ext cx="3749039" cy="64008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9776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restocking.spec.js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397763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2C55E"/>
                </a:solidFill>
              </a:rPr>
              <a:t>9 tests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2519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Budget input, stat cards, table, Status column logic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34840" y="3922776"/>
            <a:ext cx="3749039" cy="64008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0" y="39776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spending.spec.js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59" y="397763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2C55E"/>
                </a:solidFill>
              </a:rPr>
              <a:t>6 tests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42519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KPI cards, charts, period filter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40" y="3922776"/>
            <a:ext cx="3749039" cy="64008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58200" y="39776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demand.spec.js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81359" y="397763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2C55E"/>
                </a:solidFill>
              </a:rPr>
              <a:t>7 tests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42519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Trend cards, table, filters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737360" cy="292608"/>
          </a:xfrm>
          <a:prstGeom prst="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3891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C55E"/>
                </a:solidFill>
              </a:rPr>
              <a:t>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R4 · Architecture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</a:rPr>
              <a:t>Full current-state docs
delivered to Meridian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2651760" cy="21031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603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Tech stack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99232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Vue 3 + Vite / FastAPI + Pydantic / JSON mock data. Ports, run commands, CORS notes.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55848" y="2468880"/>
            <a:ext cx="2651760" cy="21031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3008" y="25603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SVG component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2999232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Browser → api.js → FastAPI endpoints → mock data layer. Composables, data flow arrows, legend.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3056" y="2468880"/>
            <a:ext cx="2651760" cy="21031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216" y="25603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API endpoint reference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2999232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15 endpoints: method, path, all query params, JSON response shape. Restocking ★ flagged as new.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70264" y="2468880"/>
            <a:ext cx="2651760" cy="21031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7424" y="25603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IT handoff notes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7424" y="2999232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How to add endpoints, add views, replace JSON with a real DB, run the Playwright suite.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OPTIONAL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</a:rPr>
              <a:t>D1 · D2 · D3 — all delivered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868680"/>
            <a:ext cx="1828800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777240" y="2377440"/>
            <a:ext cx="3474720" cy="38404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5420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D1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90779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</a:rPr>
              <a:t>CSS Variables
&amp; UI Refresh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" y="3456432"/>
            <a:ext cx="1737360" cy="292608"/>
          </a:xfrm>
          <a:prstGeom prst="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" y="348386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C55E"/>
                </a:solidFill>
              </a:rPr>
              <a:t>COMPLETE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913632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CBD5E1"/>
                </a:solidFill>
              </a:rPr>
              <a:t>• CSS custom properties :root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BD5E1"/>
                </a:solidFill>
              </a:rPr>
              <a:t>• All hardcoded colours replaced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BD5E1"/>
                </a:solidFill>
              </a:rPr>
              <a:t>• FilterBar.vue updated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BD5E1"/>
                </a:solidFill>
              </a:rPr>
              <a:t>• Themeable from one block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7408" y="2377440"/>
            <a:ext cx="3474720" cy="38404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5420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D2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90779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</a:rPr>
              <a:t>Italian
Locale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3456432"/>
            <a:ext cx="1737360" cy="292608"/>
          </a:xfrm>
          <a:prstGeom prst="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348386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C55E"/>
                </a:solidFill>
              </a:rPr>
              <a:t>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13632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CBD5E1"/>
                </a:solidFill>
              </a:rPr>
              <a:t>• it.js — full translation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BD5E1"/>
                </a:solidFill>
              </a:rPr>
              <a:t>• EUR currency for 'it'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BD5E1"/>
                </a:solidFill>
              </a:rPr>
              <a:t>• translateWarehouse: Londra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BD5E1"/>
                </a:solidFill>
              </a:rPr>
              <a:t>• 3-language switcher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7576" y="2377440"/>
            <a:ext cx="3474720" cy="38404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25420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D3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290779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</a:rPr>
              <a:t>Dark Mode
Toggle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02168" y="3456432"/>
            <a:ext cx="1737360" cy="292608"/>
          </a:xfrm>
          <a:prstGeom prst="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348386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C55E"/>
                </a:solidFill>
              </a:rPr>
              <a:t>COMPLETE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3913632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CBD5E1"/>
                </a:solidFill>
              </a:rPr>
              <a:t>• Sun/moon button in nav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BD5E1"/>
                </a:solidFill>
              </a:rPr>
              <a:t>• .dark class on &lt;html&gt;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BD5E1"/>
                </a:solidFill>
              </a:rPr>
              <a:t>• CSS var overrides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CBD5E1"/>
                </a:solidFill>
              </a:rPr>
              <a:t>• localStorage persistence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branch: feature/meridian-engagement  ·  RFP #MC-2026-0417  ·  April 27,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737360" cy="292608"/>
          </a:xfrm>
          <a:prstGeom prst="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3891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C55E"/>
                </a:solidFill>
              </a:rPr>
              <a:t>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D1 + D3 · CSS Variables &amp; Dark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</a:rPr>
              <a:t>Full theme system.
One-click dark mode.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2651760" cy="210312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603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:root CSS 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99232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14 custom properties — --bg, --surface, --border, --text-primary, --accent, etc. All layout and colour tokens centralised.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55848" y="2468880"/>
            <a:ext cx="2651760" cy="210312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3008" y="25603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.dark class override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2999232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Applied to &lt;html&gt; element. Full dark palette defined in one block; flips the entire app including charts, cards, tables.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3056" y="2468880"/>
            <a:ext cx="2651760" cy="210312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216" y="25603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App.vue refactored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2999232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All hardcoded hex values replaced with var(--*) calls. FilterBar.vue scoped styles also updated.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70264" y="2468880"/>
            <a:ext cx="2651760" cy="210312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7424" y="25603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Toggle + persistence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7424" y="2999232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Sun/moon SVG button in nav. isDark ref seeds from localStorage on mount; preference survives page reload.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branch: feature/meridian-engagement  ·  commit: 272787c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737360" cy="292608"/>
          </a:xfrm>
          <a:prstGeom prst="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3891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C55E"/>
                </a:solidFill>
              </a:rPr>
              <a:t>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D2 · Italian Locale (i18n Expansion)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</a:rPr>
              <a:t>Third language live.
EN · JA ·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5486400" cy="36576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Files added / modified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>
                <a:solidFill>
                  <a:srgbClr val="CBD5E1"/>
                </a:solidFill>
              </a:rPr>
              <a:t>→  client/src/locales/it.js — full translation (403 lines)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CBD5E1"/>
                </a:solidFill>
              </a:rPr>
              <a:t>→  useI18n.js — import it, EUR currency for 'it' locale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CBD5E1"/>
                </a:solidFill>
              </a:rPr>
              <a:t>→  useI18n.js — translateWarehouse: London → 'Londra'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CBD5E1"/>
                </a:solidFill>
              </a:rPr>
              <a:t>→  LanguageSwitcher.vue — 'Italiano' added to languageNames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2468880"/>
            <a:ext cx="5577840" cy="36576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6060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Sample translations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09067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nav.overview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30906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</a:rPr>
              <a:t>Panoramica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4564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nav.restocking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4564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</a:rPr>
              <a:t>Rifornimento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822191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dashboard.kpi.title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2219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</a:rPr>
              <a:t>Indicatori Chiave di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18795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filters.location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418795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</a:rPr>
              <a:t>Sede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5537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status.inStock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45537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</a:rPr>
              <a:t>Disponibile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91947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priority.high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49194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</a:rPr>
              <a:t>Alta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branch: feature/meridian-engagement  ·  commit: 272787c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75569"/>
                </a:solidFill>
              </a:rPr>
              <a:t>ACCENTURE&amp;CT CONSULTING  ·  MERIDIAN COMPONENTS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1097280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FULL ENGAGEMENT ·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8FAFC"/>
                </a:solidFill>
              </a:rPr>
              <a:t>R1 · R2 · R3 · R4
+ D1 · D2 · D3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063240"/>
            <a:ext cx="11064240" cy="502920"/>
          </a:xfrm>
          <a:prstGeom prst="rect">
            <a:avLst/>
          </a:prstGeom>
          <a:solidFill>
            <a:srgbClr val="052E16"/>
          </a:solidFill>
          <a:ln w="9525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12724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✓  R1  Reports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7712" y="312724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✓  R2  Restocking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9624" y="312724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✓  R3  59/59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31536" y="312724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✓  R4  Arch 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3448" y="312724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✓  D1  CSS vars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12724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✓  D2  Italiano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77272" y="312724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✓  D3  Dark mode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49039"/>
            <a:ext cx="11064240" cy="23774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86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Pull Request ready for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708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Branch: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4370832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feature/meridian-engagement  →  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280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Commits: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828032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272787c  Deliver D1+D2+D3: CSS variables, Italian locale, dark mode toggle
a0e7e5d  Update progress deck: all four R deliverables COMPLETE
645b5f2  R4: Add architecture documentation
8004785  Complete R1–R3 Meridian engagement deliverables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852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Changed: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5285232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15 files  ·  App.vue, FilterBar.vue, LanguageSwitcher.vue, useI18n.js,
it.js (new), Restocking.vue (new), main.py, api.js, e2e test suite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424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Repo: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5742432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github.com/lindsey-anthropic/meridian-workshop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RFP #MC-2026-0417  ·  April 27,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