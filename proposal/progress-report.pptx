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</p:sldIdLst>
  <p:sldSz cx="12188825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 snapToObjects="1">
      <p:cViewPr varScale="1">
        <p:scale>
          <a:sx n="97" d="100"/>
          <a:sy n="97" d="100"/>
        </p:scale>
        <p:origin x="1074" y="306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tableStyles" Target="tableStyle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theme" Target="theme/theme1.xml"/><Relationship Id="rId5" Type="http://schemas.openxmlformats.org/officeDocument/2006/relationships/slide" Target="slides/slide4.xml"/><Relationship Id="rId10" Type="http://schemas.openxmlformats.org/officeDocument/2006/relationships/viewProps" Target="viewProps.xml"/><Relationship Id="rId4" Type="http://schemas.openxmlformats.org/officeDocument/2006/relationships/slide" Target="slides/slide3.xml"/><Relationship Id="rId9" Type="http://schemas.openxmlformats.org/officeDocument/2006/relationships/presProps" Target="pres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4/27/2026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4/27/2026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4/27/2026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4/27/2026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4/27/2026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4/27/2026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4/27/2026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4/27/2026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4/27/2026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4/27/2026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4/27/2026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4/27/2026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8640" y="45720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475569"/>
                </a:solidFill>
              </a:rPr>
              <a:t>ACCENTURE&amp;CT CONSULTING  ·  MERIDIAN COMPONENTS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548640" y="914400"/>
            <a:ext cx="1097280" cy="0"/>
          </a:xfrm>
          <a:prstGeom prst="line">
            <a:avLst/>
          </a:prstGeom>
          <a:ln w="25400">
            <a:solidFill>
              <a:srgbClr val="38BDF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TextBox 3"/>
          <p:cNvSpPr txBox="1"/>
          <p:nvPr/>
        </p:nvSpPr>
        <p:spPr>
          <a:xfrm>
            <a:off x="548640" y="1005840"/>
            <a:ext cx="9144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38BDF8"/>
                </a:solidFill>
              </a:rPr>
              <a:t>ENGAGEMENT PROGRESS REPORT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463040"/>
            <a:ext cx="9144000" cy="14465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lang="pt-BR" sz="4400" b="1" i="0">
                <a:solidFill>
                  <a:srgbClr val="F8FAFC"/>
                </a:solidFill>
              </a:rPr>
              <a:t>Sprint Review
R1 · R2 · R3 · R4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3474720"/>
            <a:ext cx="8229600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lang="en-US" sz="1800" b="0" i="0">
                <a:solidFill>
                  <a:srgbClr val="94A3B8"/>
                </a:solidFill>
              </a:rPr>
              <a:t>All four required deliverables complete.
Engagement base scope delivered on schedule.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6217920"/>
            <a:ext cx="4572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475569"/>
                </a:solidFill>
              </a:rPr>
              <a:t>April 27, 2026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6217920"/>
            <a:ext cx="4572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475569"/>
                </a:solidFill>
              </a:rPr>
              <a:t>April 27, 2026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8640" y="502920"/>
            <a:ext cx="9144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38BDF8"/>
                </a:solidFill>
              </a:rPr>
              <a:t>DELIVERY STATUS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914400"/>
            <a:ext cx="91440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i="0">
                <a:solidFill>
                  <a:srgbClr val="F8FAFC"/>
                </a:solidFill>
              </a:rPr>
              <a:t>R1 – R4 at a glance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548640" y="868680"/>
            <a:ext cx="1828800" cy="0"/>
          </a:xfrm>
          <a:prstGeom prst="line">
            <a:avLst/>
          </a:prstGeom>
          <a:ln w="25400">
            <a:solidFill>
              <a:srgbClr val="38BDF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" name="Connector 3"/>
          <p:cNvCxnSpPr/>
          <p:nvPr/>
        </p:nvCxnSpPr>
        <p:spPr>
          <a:xfrm>
            <a:off x="548640" y="868680"/>
            <a:ext cx="1828800" cy="0"/>
          </a:xfrm>
          <a:prstGeom prst="line">
            <a:avLst/>
          </a:prstGeom>
          <a:ln w="25400">
            <a:solidFill>
              <a:srgbClr val="38BDF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Rectangle 4"/>
          <p:cNvSpPr/>
          <p:nvPr/>
        </p:nvSpPr>
        <p:spPr>
          <a:xfrm>
            <a:off x="502920" y="2377440"/>
            <a:ext cx="2651760" cy="3840480"/>
          </a:xfrm>
          <a:prstGeom prst="rect">
            <a:avLst/>
          </a:prstGeom>
          <a:solidFill>
            <a:srgbClr val="1E293B"/>
          </a:solidFill>
          <a:ln w="9525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667512" y="2542032"/>
            <a:ext cx="237744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38BDF8"/>
                </a:solidFill>
              </a:rPr>
              <a:t>R1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67512" y="2907792"/>
            <a:ext cx="237744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F8FAFC"/>
                </a:solidFill>
              </a:rPr>
              <a:t>Reports
Remediation</a:t>
            </a:r>
          </a:p>
        </p:txBody>
      </p:sp>
      <p:sp>
        <p:nvSpPr>
          <p:cNvPr id="8" name="Rectangle 7"/>
          <p:cNvSpPr/>
          <p:nvPr/>
        </p:nvSpPr>
        <p:spPr>
          <a:xfrm>
            <a:off x="667512" y="3456432"/>
            <a:ext cx="1737360" cy="292608"/>
          </a:xfrm>
          <a:prstGeom prst="rect">
            <a:avLst/>
          </a:prstGeom>
          <a:solidFill>
            <a:srgbClr val="052E1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740664" y="3483864"/>
            <a:ext cx="16002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 i="0">
                <a:solidFill>
                  <a:srgbClr val="22C55E"/>
                </a:solidFill>
              </a:rPr>
              <a:t>COMPLETE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67512" y="3913632"/>
            <a:ext cx="2377440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500"/>
              </a:spcBef>
            </a:pPr>
            <a:r>
              <a:rPr sz="1200">
                <a:solidFill>
                  <a:srgbClr val="CBD5E1"/>
                </a:solidFill>
              </a:rPr>
              <a:t>• Options → Composition API</a:t>
            </a:r>
          </a:p>
          <a:p>
            <a:pPr>
              <a:spcBef>
                <a:spcPts val="500"/>
              </a:spcBef>
            </a:pPr>
            <a:r>
              <a:rPr sz="1200">
                <a:solidFill>
                  <a:srgbClr val="CBD5E1"/>
                </a:solidFill>
              </a:rPr>
              <a:t>• Filters wired (warehouse/category)</a:t>
            </a:r>
          </a:p>
          <a:p>
            <a:pPr>
              <a:spcBef>
                <a:spcPts val="500"/>
              </a:spcBef>
            </a:pPr>
            <a:r>
              <a:rPr sz="1200">
                <a:solidFill>
                  <a:srgbClr val="CBD5E1"/>
                </a:solidFill>
              </a:rPr>
              <a:t>• API endpoints patched</a:t>
            </a:r>
          </a:p>
          <a:p>
            <a:pPr>
              <a:spcBef>
                <a:spcPts val="500"/>
              </a:spcBef>
            </a:pPr>
            <a:r>
              <a:rPr sz="1200">
                <a:solidFill>
                  <a:srgbClr val="CBD5E1"/>
                </a:solidFill>
              </a:rPr>
              <a:t>• Zero console errors</a:t>
            </a:r>
          </a:p>
        </p:txBody>
      </p:sp>
      <p:sp>
        <p:nvSpPr>
          <p:cNvPr id="11" name="Rectangle 10"/>
          <p:cNvSpPr/>
          <p:nvPr/>
        </p:nvSpPr>
        <p:spPr>
          <a:xfrm>
            <a:off x="3310128" y="2377440"/>
            <a:ext cx="2651760" cy="3840480"/>
          </a:xfrm>
          <a:prstGeom prst="rect">
            <a:avLst/>
          </a:prstGeom>
          <a:solidFill>
            <a:srgbClr val="1E293B"/>
          </a:solidFill>
          <a:ln w="9525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3474720" y="2542032"/>
            <a:ext cx="237744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38BDF8"/>
                </a:solidFill>
              </a:rPr>
              <a:t>R2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474720" y="2907792"/>
            <a:ext cx="237744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F8FAFC"/>
                </a:solidFill>
              </a:rPr>
              <a:t>Restocking
View</a:t>
            </a:r>
          </a:p>
        </p:txBody>
      </p:sp>
      <p:sp>
        <p:nvSpPr>
          <p:cNvPr id="14" name="Rectangle 13"/>
          <p:cNvSpPr/>
          <p:nvPr/>
        </p:nvSpPr>
        <p:spPr>
          <a:xfrm>
            <a:off x="3474720" y="3456432"/>
            <a:ext cx="1737360" cy="292608"/>
          </a:xfrm>
          <a:prstGeom prst="rect">
            <a:avLst/>
          </a:prstGeom>
          <a:solidFill>
            <a:srgbClr val="052E1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3547872" y="3483864"/>
            <a:ext cx="16002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 i="0">
                <a:solidFill>
                  <a:srgbClr val="22C55E"/>
                </a:solidFill>
              </a:rPr>
              <a:t>COMPLETE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474720" y="3913632"/>
            <a:ext cx="2377440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500"/>
              </a:spcBef>
            </a:pPr>
            <a:r>
              <a:rPr sz="1200">
                <a:solidFill>
                  <a:srgbClr val="CBD5E1"/>
                </a:solidFill>
              </a:rPr>
              <a:t>• /api/restocking endpoint</a:t>
            </a:r>
          </a:p>
          <a:p>
            <a:pPr>
              <a:spcBef>
                <a:spcPts val="500"/>
              </a:spcBef>
            </a:pPr>
            <a:r>
              <a:rPr sz="1200">
                <a:solidFill>
                  <a:srgbClr val="CBD5E1"/>
                </a:solidFill>
              </a:rPr>
              <a:t>• Budget ceiling + priority rank</a:t>
            </a:r>
          </a:p>
          <a:p>
            <a:pPr>
              <a:spcBef>
                <a:spcPts val="500"/>
              </a:spcBef>
            </a:pPr>
            <a:r>
              <a:rPr sz="1200">
                <a:solidFill>
                  <a:srgbClr val="CBD5E1"/>
                </a:solidFill>
              </a:rPr>
              <a:t>• New Restocking.vue</a:t>
            </a:r>
          </a:p>
          <a:p>
            <a:pPr>
              <a:spcBef>
                <a:spcPts val="500"/>
              </a:spcBef>
            </a:pPr>
            <a:r>
              <a:rPr sz="1200">
                <a:solidFill>
                  <a:srgbClr val="CBD5E1"/>
                </a:solidFill>
              </a:rPr>
              <a:t>• EN + JA locale keys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117336" y="2377440"/>
            <a:ext cx="2651760" cy="3840480"/>
          </a:xfrm>
          <a:prstGeom prst="rect">
            <a:avLst/>
          </a:prstGeom>
          <a:solidFill>
            <a:srgbClr val="1E293B"/>
          </a:solidFill>
          <a:ln w="9525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6281927" y="2542032"/>
            <a:ext cx="237744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38BDF8"/>
                </a:solidFill>
              </a:rPr>
              <a:t>R3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281927" y="2907792"/>
            <a:ext cx="237744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F8FAFC"/>
                </a:solidFill>
              </a:rPr>
              <a:t>Automated
Tests</a:t>
            </a:r>
          </a:p>
        </p:txBody>
      </p:sp>
      <p:sp>
        <p:nvSpPr>
          <p:cNvPr id="20" name="Rectangle 19"/>
          <p:cNvSpPr/>
          <p:nvPr/>
        </p:nvSpPr>
        <p:spPr>
          <a:xfrm>
            <a:off x="6281927" y="3456432"/>
            <a:ext cx="1737360" cy="292608"/>
          </a:xfrm>
          <a:prstGeom prst="rect">
            <a:avLst/>
          </a:prstGeom>
          <a:solidFill>
            <a:srgbClr val="052E1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TextBox 20"/>
          <p:cNvSpPr txBox="1"/>
          <p:nvPr/>
        </p:nvSpPr>
        <p:spPr>
          <a:xfrm>
            <a:off x="6355079" y="3483864"/>
            <a:ext cx="16002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 i="0">
                <a:solidFill>
                  <a:srgbClr val="22C55E"/>
                </a:solidFill>
              </a:rPr>
              <a:t>COMPLETE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281927" y="3913632"/>
            <a:ext cx="2377440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500"/>
              </a:spcBef>
            </a:pPr>
            <a:r>
              <a:rPr sz="1200">
                <a:solidFill>
                  <a:srgbClr val="CBD5E1"/>
                </a:solidFill>
              </a:rPr>
              <a:t>• Playwright e2e suite</a:t>
            </a:r>
          </a:p>
          <a:p>
            <a:pPr>
              <a:spcBef>
                <a:spcPts val="500"/>
              </a:spcBef>
            </a:pPr>
            <a:r>
              <a:rPr sz="1200">
                <a:solidFill>
                  <a:srgbClr val="CBD5E1"/>
                </a:solidFill>
              </a:rPr>
              <a:t>• 59 / 59 tests passing</a:t>
            </a:r>
          </a:p>
          <a:p>
            <a:pPr>
              <a:spcBef>
                <a:spcPts val="500"/>
              </a:spcBef>
            </a:pPr>
            <a:r>
              <a:rPr sz="1200">
                <a:solidFill>
                  <a:srgbClr val="CBD5E1"/>
                </a:solidFill>
              </a:rPr>
              <a:t>• All views covered</a:t>
            </a:r>
          </a:p>
          <a:p>
            <a:pPr>
              <a:spcBef>
                <a:spcPts val="500"/>
              </a:spcBef>
            </a:pPr>
            <a:r>
              <a:rPr sz="1200">
                <a:solidFill>
                  <a:srgbClr val="CBD5E1"/>
                </a:solidFill>
              </a:rPr>
              <a:t>• Filters + edge cases</a:t>
            </a:r>
          </a:p>
        </p:txBody>
      </p:sp>
      <p:sp>
        <p:nvSpPr>
          <p:cNvPr id="23" name="Rectangle 22"/>
          <p:cNvSpPr/>
          <p:nvPr/>
        </p:nvSpPr>
        <p:spPr>
          <a:xfrm>
            <a:off x="8924544" y="2377440"/>
            <a:ext cx="2651760" cy="3840480"/>
          </a:xfrm>
          <a:prstGeom prst="rect">
            <a:avLst/>
          </a:prstGeom>
          <a:solidFill>
            <a:srgbClr val="1E293B"/>
          </a:solidFill>
          <a:ln w="9525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" name="TextBox 23"/>
          <p:cNvSpPr txBox="1"/>
          <p:nvPr/>
        </p:nvSpPr>
        <p:spPr>
          <a:xfrm>
            <a:off x="9089136" y="2542032"/>
            <a:ext cx="237744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38BDF8"/>
                </a:solidFill>
              </a:rPr>
              <a:t>R4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089136" y="2907792"/>
            <a:ext cx="237744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F8FAFC"/>
                </a:solidFill>
              </a:rPr>
              <a:t>Architecture
Docs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9089136" y="3456432"/>
            <a:ext cx="1737360" cy="292608"/>
          </a:xfrm>
          <a:prstGeom prst="rect">
            <a:avLst/>
          </a:prstGeom>
          <a:solidFill>
            <a:srgbClr val="052E1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7" name="TextBox 26"/>
          <p:cNvSpPr txBox="1"/>
          <p:nvPr/>
        </p:nvSpPr>
        <p:spPr>
          <a:xfrm>
            <a:off x="9162288" y="3483864"/>
            <a:ext cx="16002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 i="0">
                <a:solidFill>
                  <a:srgbClr val="22C55E"/>
                </a:solidFill>
              </a:rPr>
              <a:t>COMPLETE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089136" y="3913632"/>
            <a:ext cx="2377440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500"/>
              </a:spcBef>
            </a:pPr>
            <a:r>
              <a:rPr sz="1200">
                <a:solidFill>
                  <a:srgbClr val="CBD5E1"/>
                </a:solidFill>
              </a:rPr>
              <a:t>• HTML architecture diagram</a:t>
            </a:r>
          </a:p>
          <a:p>
            <a:pPr>
              <a:spcBef>
                <a:spcPts val="500"/>
              </a:spcBef>
            </a:pPr>
            <a:r>
              <a:rPr sz="1200">
                <a:solidFill>
                  <a:srgbClr val="CBD5E1"/>
                </a:solidFill>
              </a:rPr>
              <a:t>• 15-endpoint API reference</a:t>
            </a:r>
          </a:p>
          <a:p>
            <a:pPr>
              <a:spcBef>
                <a:spcPts val="500"/>
              </a:spcBef>
            </a:pPr>
            <a:r>
              <a:rPr sz="1200">
                <a:solidFill>
                  <a:srgbClr val="CBD5E1"/>
                </a:solidFill>
              </a:rPr>
              <a:t>• Mock data layer docs</a:t>
            </a:r>
          </a:p>
          <a:p>
            <a:pPr>
              <a:spcBef>
                <a:spcPts val="500"/>
              </a:spcBef>
            </a:pPr>
            <a:r>
              <a:rPr sz="1200">
                <a:solidFill>
                  <a:srgbClr val="CBD5E1"/>
                </a:solidFill>
              </a:rPr>
              <a:t>• IT handoff notes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9089136" y="2542032"/>
            <a:ext cx="237744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38BDF8"/>
                </a:solidFill>
              </a:rPr>
              <a:t>R4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9089136" y="2907792"/>
            <a:ext cx="237744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F8FAFC"/>
                </a:solidFill>
              </a:rPr>
              <a:t>Architecture
Docs</a:t>
            </a:r>
          </a:p>
        </p:txBody>
      </p:sp>
      <p:sp>
        <p:nvSpPr>
          <p:cNvPr id="38" name="Rectangle 37"/>
          <p:cNvSpPr/>
          <p:nvPr/>
        </p:nvSpPr>
        <p:spPr>
          <a:xfrm>
            <a:off x="9089136" y="3456432"/>
            <a:ext cx="1737360" cy="292608"/>
          </a:xfrm>
          <a:prstGeom prst="rect">
            <a:avLst/>
          </a:prstGeom>
          <a:solidFill>
            <a:srgbClr val="2D1F0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9" name="TextBox 38"/>
          <p:cNvSpPr txBox="1"/>
          <p:nvPr/>
        </p:nvSpPr>
        <p:spPr>
          <a:xfrm>
            <a:off x="9162288" y="3483864"/>
            <a:ext cx="16002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 i="0">
                <a:solidFill>
                  <a:srgbClr val="F59E0B"/>
                </a:solidFill>
              </a:rPr>
              <a:t>IN PROGRESS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9089136" y="3913632"/>
            <a:ext cx="2377440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500"/>
              </a:spcBef>
            </a:pPr>
            <a:r>
              <a:rPr sz="1200">
                <a:solidFill>
                  <a:srgbClr val="CBD5E1"/>
                </a:solidFill>
              </a:rPr>
              <a:t>• HTML diagram</a:t>
            </a:r>
          </a:p>
          <a:p>
            <a:pPr>
              <a:spcBef>
                <a:spcPts val="500"/>
              </a:spcBef>
            </a:pPr>
            <a:r>
              <a:rPr sz="1200">
                <a:solidFill>
                  <a:srgbClr val="CBD5E1"/>
                </a:solidFill>
              </a:rPr>
              <a:t>• Component map</a:t>
            </a:r>
          </a:p>
          <a:p>
            <a:pPr>
              <a:spcBef>
                <a:spcPts val="500"/>
              </a:spcBef>
            </a:pPr>
            <a:r>
              <a:rPr sz="1200">
                <a:solidFill>
                  <a:srgbClr val="CBD5E1"/>
                </a:solidFill>
              </a:rPr>
              <a:t>• API endpoint list</a:t>
            </a:r>
          </a:p>
          <a:p>
            <a:pPr>
              <a:spcBef>
                <a:spcPts val="500"/>
              </a:spcBef>
            </a:pPr>
            <a:r>
              <a:rPr sz="1200">
                <a:solidFill>
                  <a:srgbClr val="CBD5E1"/>
                </a:solidFill>
              </a:rPr>
              <a:t>• Meridian IT handoff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E293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548640" y="411480"/>
            <a:ext cx="1737360" cy="292608"/>
          </a:xfrm>
          <a:prstGeom prst="rect">
            <a:avLst/>
          </a:prstGeom>
          <a:solidFill>
            <a:srgbClr val="052E1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621792" y="438912"/>
            <a:ext cx="16002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 i="0">
                <a:solidFill>
                  <a:srgbClr val="22C55E"/>
                </a:solidFill>
              </a:rPr>
              <a:t>COMPLETE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822960"/>
            <a:ext cx="9144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38BDF8"/>
                </a:solidFill>
              </a:rPr>
              <a:t>R1 · Reports Remediation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234440"/>
            <a:ext cx="100584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1" i="0">
                <a:solidFill>
                  <a:srgbClr val="F8FAFC"/>
                </a:solidFill>
              </a:rPr>
              <a:t>All defects resolved.
Zero console errors.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0" y="2468880"/>
            <a:ext cx="2651760" cy="2103120"/>
          </a:xfrm>
          <a:prstGeom prst="rect">
            <a:avLst/>
          </a:prstGeom>
          <a:solidFill>
            <a:srgbClr val="0F172A"/>
          </a:solidFill>
          <a:ln w="9525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685800" y="2560320"/>
            <a:ext cx="23774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38BDF8"/>
                </a:solidFill>
              </a:rPr>
              <a:t>Options API → Composition API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3017520"/>
            <a:ext cx="237744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CBD5E1"/>
                </a:solidFill>
              </a:rPr>
              <a:t>Full rewrite of Reports.vue to Composition API pattern consistent with the rest of the codebase. Reactive state, watchers, computed properties.</a:t>
            </a:r>
          </a:p>
        </p:txBody>
      </p:sp>
      <p:sp>
        <p:nvSpPr>
          <p:cNvPr id="9" name="Rectangle 8"/>
          <p:cNvSpPr/>
          <p:nvPr/>
        </p:nvSpPr>
        <p:spPr>
          <a:xfrm>
            <a:off x="3355848" y="2468880"/>
            <a:ext cx="2651760" cy="2103120"/>
          </a:xfrm>
          <a:prstGeom prst="rect">
            <a:avLst/>
          </a:prstGeom>
          <a:solidFill>
            <a:srgbClr val="0F172A"/>
          </a:solidFill>
          <a:ln w="9525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3493008" y="2560320"/>
            <a:ext cx="23774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38BDF8"/>
                </a:solidFill>
              </a:rPr>
              <a:t>Filters fully wired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493008" y="3017520"/>
            <a:ext cx="237744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CBD5E1"/>
                </a:solidFill>
              </a:rPr>
              <a:t>Warehouse and Category params added to /api/reports/quarterly and /api/reports/monthly-trends. Watch on both filters triggers data reload.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163056" y="2468880"/>
            <a:ext cx="2651760" cy="2103120"/>
          </a:xfrm>
          <a:prstGeom prst="rect">
            <a:avLst/>
          </a:prstGeom>
          <a:solidFill>
            <a:srgbClr val="0F172A"/>
          </a:solidFill>
          <a:ln w="9525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6300216" y="2560320"/>
            <a:ext cx="23774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38BDF8"/>
                </a:solidFill>
              </a:rPr>
              <a:t>i18n gaps closed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300216" y="3017520"/>
            <a:ext cx="237744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CBD5E1"/>
                </a:solidFill>
              </a:rPr>
              <a:t>All labels, headings, and table columns routed through t() calls. English and Japanese locale keys complete.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970264" y="2468880"/>
            <a:ext cx="2651760" cy="2103120"/>
          </a:xfrm>
          <a:prstGeom prst="rect">
            <a:avLst/>
          </a:prstGeom>
          <a:solidFill>
            <a:srgbClr val="0F172A"/>
          </a:solidFill>
          <a:ln w="9525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9107424" y="2560320"/>
            <a:ext cx="23774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38BDF8"/>
                </a:solidFill>
              </a:rPr>
              <a:t>Console noise eliminated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107424" y="3017520"/>
            <a:ext cx="237744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CBD5E1"/>
                </a:solidFill>
              </a:rPr>
              <a:t>No console.log calls, no uncaught errors, no stray warnings on page load or filter change.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85800" y="2560320"/>
            <a:ext cx="23774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38BDF8"/>
                </a:solidFill>
              </a:rPr>
              <a:t>Options API → Composition API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85800" y="3017520"/>
            <a:ext cx="237744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CBD5E1"/>
                </a:solidFill>
              </a:rPr>
              <a:t>Full rewrite of Reports.vue to Composition API pattern consistent with the rest of the codebase. Reactive state, watchers, computed properties.</a:t>
            </a:r>
          </a:p>
        </p:txBody>
      </p:sp>
      <p:sp>
        <p:nvSpPr>
          <p:cNvPr id="31" name="Rectangle 30"/>
          <p:cNvSpPr/>
          <p:nvPr/>
        </p:nvSpPr>
        <p:spPr>
          <a:xfrm>
            <a:off x="3355848" y="2468880"/>
            <a:ext cx="2651760" cy="2103120"/>
          </a:xfrm>
          <a:prstGeom prst="rect">
            <a:avLst/>
          </a:prstGeom>
          <a:solidFill>
            <a:srgbClr val="0F172A"/>
          </a:solidFill>
          <a:ln w="9525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2" name="TextBox 31"/>
          <p:cNvSpPr txBox="1"/>
          <p:nvPr/>
        </p:nvSpPr>
        <p:spPr>
          <a:xfrm>
            <a:off x="3493008" y="2560320"/>
            <a:ext cx="23774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38BDF8"/>
                </a:solidFill>
              </a:rPr>
              <a:t>Filters fully wired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3493008" y="3017520"/>
            <a:ext cx="237744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CBD5E1"/>
                </a:solidFill>
              </a:rPr>
              <a:t>Warehouse and Category params added to /api/reports/quarterly and /api/reports/monthly-trends. Watch on both filters triggers data reload.</a:t>
            </a:r>
          </a:p>
        </p:txBody>
      </p:sp>
      <p:sp>
        <p:nvSpPr>
          <p:cNvPr id="34" name="Rectangle 33"/>
          <p:cNvSpPr/>
          <p:nvPr/>
        </p:nvSpPr>
        <p:spPr>
          <a:xfrm>
            <a:off x="6163056" y="2468880"/>
            <a:ext cx="2651760" cy="2103120"/>
          </a:xfrm>
          <a:prstGeom prst="rect">
            <a:avLst/>
          </a:prstGeom>
          <a:solidFill>
            <a:srgbClr val="0F172A"/>
          </a:solidFill>
          <a:ln w="9525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5" name="TextBox 34"/>
          <p:cNvSpPr txBox="1"/>
          <p:nvPr/>
        </p:nvSpPr>
        <p:spPr>
          <a:xfrm>
            <a:off x="6300216" y="2560320"/>
            <a:ext cx="23774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38BDF8"/>
                </a:solidFill>
              </a:rPr>
              <a:t>i18n gaps closed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300216" y="3017520"/>
            <a:ext cx="237744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CBD5E1"/>
                </a:solidFill>
              </a:rPr>
              <a:t>All labels, headings, and table columns routed through t() calls. English and Japanese locale keys complete.</a:t>
            </a:r>
          </a:p>
        </p:txBody>
      </p:sp>
      <p:sp>
        <p:nvSpPr>
          <p:cNvPr id="37" name="Rectangle 36"/>
          <p:cNvSpPr/>
          <p:nvPr/>
        </p:nvSpPr>
        <p:spPr>
          <a:xfrm>
            <a:off x="8970264" y="2468880"/>
            <a:ext cx="2651760" cy="2103120"/>
          </a:xfrm>
          <a:prstGeom prst="rect">
            <a:avLst/>
          </a:prstGeom>
          <a:solidFill>
            <a:srgbClr val="0F172A"/>
          </a:solidFill>
          <a:ln w="9525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8" name="TextBox 37"/>
          <p:cNvSpPr txBox="1"/>
          <p:nvPr/>
        </p:nvSpPr>
        <p:spPr>
          <a:xfrm>
            <a:off x="9107424" y="2560320"/>
            <a:ext cx="23774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38BDF8"/>
                </a:solidFill>
              </a:rPr>
              <a:t>Console noise eliminated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9107424" y="3017520"/>
            <a:ext cx="237744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CBD5E1"/>
                </a:solidFill>
              </a:rPr>
              <a:t>No console.log calls, no uncaught errors, no stray warnings on page load or filter change.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548640" y="411480"/>
            <a:ext cx="1737360" cy="292608"/>
          </a:xfrm>
          <a:prstGeom prst="rect">
            <a:avLst/>
          </a:prstGeom>
          <a:solidFill>
            <a:srgbClr val="052E1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621792" y="438912"/>
            <a:ext cx="16002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 i="0">
                <a:solidFill>
                  <a:srgbClr val="22C55E"/>
                </a:solidFill>
              </a:rPr>
              <a:t>COMPLETE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822960"/>
            <a:ext cx="9144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38BDF8"/>
                </a:solidFill>
              </a:rPr>
              <a:t>R2 · Restocking Recommendations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234440"/>
            <a:ext cx="100584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1" i="0">
                <a:solidFill>
                  <a:srgbClr val="F8FAFC"/>
                </a:solidFill>
              </a:rPr>
              <a:t>New view live.
Budget ceiling + demand scoring.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0" y="2468880"/>
            <a:ext cx="5486400" cy="3657600"/>
          </a:xfrm>
          <a:prstGeom prst="rect">
            <a:avLst/>
          </a:prstGeom>
          <a:solidFill>
            <a:srgbClr val="1E293B"/>
          </a:solidFill>
          <a:ln w="9525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731520" y="2606040"/>
            <a:ext cx="51206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38BDF8"/>
                </a:solidFill>
              </a:rPr>
              <a:t>How it works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3063240"/>
            <a:ext cx="5120640" cy="274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600"/>
              </a:spcBef>
            </a:pPr>
            <a:r>
              <a:rPr sz="1300">
                <a:solidFill>
                  <a:srgbClr val="CBD5E1"/>
                </a:solidFill>
              </a:rPr>
              <a:t>→  Stock gap = reorder_point − quantity_on_hand</a:t>
            </a:r>
          </a:p>
          <a:p>
            <a:pPr>
              <a:spcBef>
                <a:spcPts val="600"/>
              </a:spcBef>
            </a:pPr>
            <a:r>
              <a:rPr sz="1300">
                <a:solidFill>
                  <a:srgbClr val="CBD5E1"/>
                </a:solidFill>
              </a:rPr>
              <a:t>→  Priority score: gap + bonus for 'increasing' demand trend</a:t>
            </a:r>
          </a:p>
          <a:p>
            <a:pPr>
              <a:spcBef>
                <a:spcPts val="600"/>
              </a:spcBef>
            </a:pPr>
            <a:r>
              <a:rPr sz="1300">
                <a:solidFill>
                  <a:srgbClr val="CBD5E1"/>
                </a:solidFill>
              </a:rPr>
              <a:t>→  Budget ceiling: greedy selection, within_budget flag per row</a:t>
            </a:r>
          </a:p>
          <a:p>
            <a:pPr>
              <a:spcBef>
                <a:spcPts val="600"/>
              </a:spcBef>
            </a:pPr>
            <a:r>
              <a:rPr sz="1300">
                <a:solidFill>
                  <a:srgbClr val="CBD5E1"/>
                </a:solidFill>
              </a:rPr>
              <a:t>→  Operator applies budget via button (not on every keystroke)</a:t>
            </a:r>
          </a:p>
          <a:p>
            <a:pPr>
              <a:spcBef>
                <a:spcPts val="600"/>
              </a:spcBef>
            </a:pPr>
            <a:r>
              <a:rPr sz="1300">
                <a:solidFill>
                  <a:srgbClr val="CBD5E1"/>
                </a:solidFill>
              </a:rPr>
              <a:t>→  Filters: warehouse + category reload recommendations</a:t>
            </a:r>
          </a:p>
          <a:p>
            <a:pPr>
              <a:spcBef>
                <a:spcPts val="600"/>
              </a:spcBef>
            </a:pPr>
            <a:r>
              <a:rPr sz="1300">
                <a:solidFill>
                  <a:srgbClr val="CBD5E1"/>
                </a:solidFill>
              </a:rPr>
              <a:t>→  Status column appears only when budget &gt; 0</a:t>
            </a:r>
          </a:p>
        </p:txBody>
      </p:sp>
      <p:sp>
        <p:nvSpPr>
          <p:cNvPr id="9" name="Rectangle 8"/>
          <p:cNvSpPr/>
          <p:nvPr/>
        </p:nvSpPr>
        <p:spPr>
          <a:xfrm>
            <a:off x="6263640" y="2468880"/>
            <a:ext cx="5577840" cy="3657600"/>
          </a:xfrm>
          <a:prstGeom prst="rect">
            <a:avLst/>
          </a:prstGeom>
          <a:solidFill>
            <a:srgbClr val="1E293B"/>
          </a:solidFill>
          <a:ln w="9525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6446520" y="2606040"/>
            <a:ext cx="52120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38BDF8"/>
                </a:solidFill>
              </a:rPr>
              <a:t>Summary stats delivered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46520" y="3108960"/>
            <a:ext cx="5212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38BDF8"/>
                </a:solidFill>
              </a:rPr>
              <a:t>■  Items at Risk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46520" y="3383279"/>
            <a:ext cx="5212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94A3B8"/>
                </a:solidFill>
              </a:rPr>
              <a:t>23 SKUs understocked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46520" y="3767328"/>
            <a:ext cx="5212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38BDF8"/>
                </a:solidFill>
              </a:rPr>
              <a:t>■  Total Restock Cost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46520" y="4041648"/>
            <a:ext cx="5212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94A3B8"/>
                </a:solidFill>
              </a:rPr>
              <a:t>Full cost if all ordered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446520" y="4425696"/>
            <a:ext cx="5212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38BDF8"/>
                </a:solidFill>
              </a:rPr>
              <a:t>■  Within Budget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446520" y="4700016"/>
            <a:ext cx="5212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94A3B8"/>
                </a:solidFill>
              </a:rPr>
              <a:t>Items within ceiling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46520" y="5084064"/>
            <a:ext cx="5212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38BDF8"/>
                </a:solidFill>
              </a:rPr>
              <a:t>■  Budget Remaining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46520" y="5358383"/>
            <a:ext cx="5212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94A3B8"/>
                </a:solidFill>
              </a:rPr>
              <a:t>Unspent allocation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446520" y="3383279"/>
            <a:ext cx="5212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94A3B8"/>
                </a:solidFill>
              </a:rPr>
              <a:t>23 SKUs understocked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446520" y="3767328"/>
            <a:ext cx="5212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38BDF8"/>
                </a:solidFill>
              </a:rPr>
              <a:t>■  Total Restock Cost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446520" y="4041648"/>
            <a:ext cx="5212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94A3B8"/>
                </a:solidFill>
              </a:rPr>
              <a:t>Full cost if all ordered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446520" y="4425696"/>
            <a:ext cx="5212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38BDF8"/>
                </a:solidFill>
              </a:rPr>
              <a:t>■  Within Budget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446520" y="4700016"/>
            <a:ext cx="5212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94A3B8"/>
                </a:solidFill>
              </a:rPr>
              <a:t>Items within ceiling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446520" y="5084064"/>
            <a:ext cx="5212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38BDF8"/>
                </a:solidFill>
              </a:rPr>
              <a:t>■  Budget Remaining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446520" y="5358383"/>
            <a:ext cx="5212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94A3B8"/>
                </a:solidFill>
              </a:rPr>
              <a:t>Unspent allocation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E293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548640" y="411480"/>
            <a:ext cx="1737360" cy="292608"/>
          </a:xfrm>
          <a:prstGeom prst="rect">
            <a:avLst/>
          </a:prstGeom>
          <a:solidFill>
            <a:srgbClr val="052E1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621792" y="438912"/>
            <a:ext cx="16002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 i="0">
                <a:solidFill>
                  <a:srgbClr val="22C55E"/>
                </a:solidFill>
              </a:rPr>
              <a:t>COMPLETE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822960"/>
            <a:ext cx="9144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38BDF8"/>
                </a:solidFill>
              </a:rPr>
              <a:t>R3 · Automated Browser Tests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234440"/>
            <a:ext cx="73152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 i="0">
                <a:solidFill>
                  <a:srgbClr val="F8FAFC"/>
                </a:solidFill>
              </a:rPr>
              <a:t>59 / 59 tests passing.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601200" y="1097280"/>
            <a:ext cx="22860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7200" b="1" i="0">
                <a:solidFill>
                  <a:srgbClr val="22C55E"/>
                </a:solidFill>
              </a:rPr>
              <a:t>59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601200" y="2468880"/>
            <a:ext cx="2286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0" i="0">
                <a:solidFill>
                  <a:srgbClr val="94A3B8"/>
                </a:solidFill>
              </a:rPr>
              <a:t>passing</a:t>
            </a:r>
          </a:p>
        </p:txBody>
      </p:sp>
      <p:sp>
        <p:nvSpPr>
          <p:cNvPr id="8" name="Rectangle 7"/>
          <p:cNvSpPr/>
          <p:nvPr/>
        </p:nvSpPr>
        <p:spPr>
          <a:xfrm>
            <a:off x="548640" y="2423160"/>
            <a:ext cx="3749039" cy="640080"/>
          </a:xfrm>
          <a:prstGeom prst="rect">
            <a:avLst/>
          </a:prstGeom>
          <a:solidFill>
            <a:srgbClr val="0F172A"/>
          </a:solidFill>
          <a:ln w="9525">
            <a:solidFill>
              <a:srgbClr val="1E293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685800" y="2478024"/>
            <a:ext cx="2286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38BDF8"/>
                </a:solidFill>
              </a:rPr>
              <a:t>navigation.spec.js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108960" y="2478024"/>
            <a:ext cx="1005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1" i="0">
                <a:solidFill>
                  <a:srgbClr val="22C55E"/>
                </a:solidFill>
              </a:rPr>
              <a:t>3 tests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85800" y="2752344"/>
            <a:ext cx="34747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94A3B8"/>
                </a:solidFill>
              </a:rPr>
              <a:t>Nav bar, route loading, active link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434840" y="2423160"/>
            <a:ext cx="3749039" cy="640080"/>
          </a:xfrm>
          <a:prstGeom prst="rect">
            <a:avLst/>
          </a:prstGeom>
          <a:solidFill>
            <a:srgbClr val="0F172A"/>
          </a:solidFill>
          <a:ln w="9525">
            <a:solidFill>
              <a:srgbClr val="1E293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4572000" y="2478024"/>
            <a:ext cx="2286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38BDF8"/>
                </a:solidFill>
              </a:rPr>
              <a:t>filters.spec.js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995159" y="2478024"/>
            <a:ext cx="1005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1" i="0">
                <a:solidFill>
                  <a:srgbClr val="22C55E"/>
                </a:solidFill>
              </a:rPr>
              <a:t>5 tests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572000" y="2752344"/>
            <a:ext cx="34747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94A3B8"/>
                </a:solidFill>
              </a:rPr>
              <a:t>All 4 controls, options, reset</a:t>
            </a:r>
          </a:p>
        </p:txBody>
      </p:sp>
      <p:sp>
        <p:nvSpPr>
          <p:cNvPr id="16" name="Rectangle 15"/>
          <p:cNvSpPr/>
          <p:nvPr/>
        </p:nvSpPr>
        <p:spPr>
          <a:xfrm>
            <a:off x="8321040" y="2423160"/>
            <a:ext cx="3749039" cy="640080"/>
          </a:xfrm>
          <a:prstGeom prst="rect">
            <a:avLst/>
          </a:prstGeom>
          <a:solidFill>
            <a:srgbClr val="0F172A"/>
          </a:solidFill>
          <a:ln w="9525">
            <a:solidFill>
              <a:srgbClr val="1E293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8458200" y="2478024"/>
            <a:ext cx="2286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38BDF8"/>
                </a:solidFill>
              </a:rPr>
              <a:t>dashboard.spec.js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881359" y="2478024"/>
            <a:ext cx="1005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1" i="0">
                <a:solidFill>
                  <a:srgbClr val="22C55E"/>
                </a:solidFill>
              </a:rPr>
              <a:t>6 tests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458200" y="2752344"/>
            <a:ext cx="34747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94A3B8"/>
                </a:solidFill>
              </a:rPr>
              <a:t>Title, KPIs, Order Health, charts, filters</a:t>
            </a:r>
          </a:p>
        </p:txBody>
      </p:sp>
      <p:sp>
        <p:nvSpPr>
          <p:cNvPr id="20" name="Rectangle 19"/>
          <p:cNvSpPr/>
          <p:nvPr/>
        </p:nvSpPr>
        <p:spPr>
          <a:xfrm>
            <a:off x="548640" y="3172968"/>
            <a:ext cx="3749039" cy="640080"/>
          </a:xfrm>
          <a:prstGeom prst="rect">
            <a:avLst/>
          </a:prstGeom>
          <a:solidFill>
            <a:srgbClr val="0F172A"/>
          </a:solidFill>
          <a:ln w="9525">
            <a:solidFill>
              <a:srgbClr val="1E293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TextBox 20"/>
          <p:cNvSpPr txBox="1"/>
          <p:nvPr/>
        </p:nvSpPr>
        <p:spPr>
          <a:xfrm>
            <a:off x="685800" y="3227832"/>
            <a:ext cx="2286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38BDF8"/>
                </a:solidFill>
              </a:rPr>
              <a:t>inventory.spec.js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108960" y="3227832"/>
            <a:ext cx="1005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1" i="0">
                <a:solidFill>
                  <a:srgbClr val="22C55E"/>
                </a:solidFill>
              </a:rPr>
              <a:t>6 tests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85800" y="3502151"/>
            <a:ext cx="34747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94A3B8"/>
                </a:solidFill>
              </a:rPr>
              <a:t>Table, columns, Location/Category filters</a:t>
            </a:r>
          </a:p>
        </p:txBody>
      </p:sp>
      <p:sp>
        <p:nvSpPr>
          <p:cNvPr id="24" name="Rectangle 23"/>
          <p:cNvSpPr/>
          <p:nvPr/>
        </p:nvSpPr>
        <p:spPr>
          <a:xfrm>
            <a:off x="4434840" y="3172968"/>
            <a:ext cx="3749039" cy="640080"/>
          </a:xfrm>
          <a:prstGeom prst="rect">
            <a:avLst/>
          </a:prstGeom>
          <a:solidFill>
            <a:srgbClr val="0F172A"/>
          </a:solidFill>
          <a:ln w="9525">
            <a:solidFill>
              <a:srgbClr val="1E293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" name="TextBox 24"/>
          <p:cNvSpPr txBox="1"/>
          <p:nvPr/>
        </p:nvSpPr>
        <p:spPr>
          <a:xfrm>
            <a:off x="4572000" y="3227832"/>
            <a:ext cx="2286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38BDF8"/>
                </a:solidFill>
              </a:rPr>
              <a:t>orders.spec.js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995159" y="3227832"/>
            <a:ext cx="1005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1" i="0">
                <a:solidFill>
                  <a:srgbClr val="22C55E"/>
                </a:solidFill>
              </a:rPr>
              <a:t>5 tests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572000" y="3502151"/>
            <a:ext cx="34747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94A3B8"/>
                </a:solidFill>
              </a:rPr>
              <a:t>Table, columns, Status/Location/Period filters</a:t>
            </a:r>
          </a:p>
        </p:txBody>
      </p:sp>
      <p:sp>
        <p:nvSpPr>
          <p:cNvPr id="28" name="Rectangle 27"/>
          <p:cNvSpPr/>
          <p:nvPr/>
        </p:nvSpPr>
        <p:spPr>
          <a:xfrm>
            <a:off x="8321040" y="3172968"/>
            <a:ext cx="3749039" cy="640080"/>
          </a:xfrm>
          <a:prstGeom prst="rect">
            <a:avLst/>
          </a:prstGeom>
          <a:solidFill>
            <a:srgbClr val="0F172A"/>
          </a:solidFill>
          <a:ln w="9525">
            <a:solidFill>
              <a:srgbClr val="1E293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9" name="TextBox 28"/>
          <p:cNvSpPr txBox="1"/>
          <p:nvPr/>
        </p:nvSpPr>
        <p:spPr>
          <a:xfrm>
            <a:off x="8458200" y="3227832"/>
            <a:ext cx="2286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38BDF8"/>
                </a:solidFill>
              </a:rPr>
              <a:t>reports.spec.js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0881359" y="3227832"/>
            <a:ext cx="1005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1" i="0">
                <a:solidFill>
                  <a:srgbClr val="22C55E"/>
                </a:solidFill>
              </a:rPr>
              <a:t>8 tests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458200" y="3502151"/>
            <a:ext cx="34747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94A3B8"/>
                </a:solidFill>
              </a:rPr>
              <a:t>Quarterly table, MoM, bar chart, stats, filters</a:t>
            </a:r>
          </a:p>
        </p:txBody>
      </p:sp>
      <p:sp>
        <p:nvSpPr>
          <p:cNvPr id="32" name="Rectangle 31"/>
          <p:cNvSpPr/>
          <p:nvPr/>
        </p:nvSpPr>
        <p:spPr>
          <a:xfrm>
            <a:off x="548640" y="3922776"/>
            <a:ext cx="3749039" cy="640080"/>
          </a:xfrm>
          <a:prstGeom prst="rect">
            <a:avLst/>
          </a:prstGeom>
          <a:solidFill>
            <a:srgbClr val="0F172A"/>
          </a:solidFill>
          <a:ln w="9525">
            <a:solidFill>
              <a:srgbClr val="1E293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3" name="TextBox 32"/>
          <p:cNvSpPr txBox="1"/>
          <p:nvPr/>
        </p:nvSpPr>
        <p:spPr>
          <a:xfrm>
            <a:off x="685800" y="3977639"/>
            <a:ext cx="2286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38BDF8"/>
                </a:solidFill>
              </a:rPr>
              <a:t>restocking.spec.js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3108960" y="3977639"/>
            <a:ext cx="1005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1" i="0">
                <a:solidFill>
                  <a:srgbClr val="22C55E"/>
                </a:solidFill>
              </a:rPr>
              <a:t>9 tests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85800" y="4251960"/>
            <a:ext cx="34747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94A3B8"/>
                </a:solidFill>
              </a:rPr>
              <a:t>Budget input, stat cards, table, Status column logic</a:t>
            </a:r>
          </a:p>
        </p:txBody>
      </p:sp>
      <p:sp>
        <p:nvSpPr>
          <p:cNvPr id="36" name="Rectangle 35"/>
          <p:cNvSpPr/>
          <p:nvPr/>
        </p:nvSpPr>
        <p:spPr>
          <a:xfrm>
            <a:off x="4434840" y="3922776"/>
            <a:ext cx="3749039" cy="640080"/>
          </a:xfrm>
          <a:prstGeom prst="rect">
            <a:avLst/>
          </a:prstGeom>
          <a:solidFill>
            <a:srgbClr val="0F172A"/>
          </a:solidFill>
          <a:ln w="9525">
            <a:solidFill>
              <a:srgbClr val="1E293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7" name="TextBox 36"/>
          <p:cNvSpPr txBox="1"/>
          <p:nvPr/>
        </p:nvSpPr>
        <p:spPr>
          <a:xfrm>
            <a:off x="4572000" y="3977639"/>
            <a:ext cx="2286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38BDF8"/>
                </a:solidFill>
              </a:rPr>
              <a:t>spending.spec.js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6995159" y="3977639"/>
            <a:ext cx="1005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1" i="0">
                <a:solidFill>
                  <a:srgbClr val="22C55E"/>
                </a:solidFill>
              </a:rPr>
              <a:t>6 tests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4572000" y="4251960"/>
            <a:ext cx="34747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94A3B8"/>
                </a:solidFill>
              </a:rPr>
              <a:t>KPI cards, charts, period filter</a:t>
            </a:r>
          </a:p>
        </p:txBody>
      </p:sp>
      <p:sp>
        <p:nvSpPr>
          <p:cNvPr id="40" name="Rectangle 39"/>
          <p:cNvSpPr/>
          <p:nvPr/>
        </p:nvSpPr>
        <p:spPr>
          <a:xfrm>
            <a:off x="8321040" y="3922776"/>
            <a:ext cx="3749039" cy="640080"/>
          </a:xfrm>
          <a:prstGeom prst="rect">
            <a:avLst/>
          </a:prstGeom>
          <a:solidFill>
            <a:srgbClr val="0F172A"/>
          </a:solidFill>
          <a:ln w="9525">
            <a:solidFill>
              <a:srgbClr val="1E293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1" name="TextBox 40"/>
          <p:cNvSpPr txBox="1"/>
          <p:nvPr/>
        </p:nvSpPr>
        <p:spPr>
          <a:xfrm>
            <a:off x="8458200" y="3977639"/>
            <a:ext cx="2286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38BDF8"/>
                </a:solidFill>
              </a:rPr>
              <a:t>demand.spec.js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0881359" y="3977639"/>
            <a:ext cx="1005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1" i="0">
                <a:solidFill>
                  <a:srgbClr val="22C55E"/>
                </a:solidFill>
              </a:rPr>
              <a:t>7 tests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8458200" y="4251960"/>
            <a:ext cx="34747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94A3B8"/>
                </a:solidFill>
              </a:rPr>
              <a:t>Trend cards, table, filters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601200" y="2468880"/>
            <a:ext cx="2286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0" i="0">
                <a:solidFill>
                  <a:srgbClr val="94A3B8"/>
                </a:solidFill>
              </a:rPr>
              <a:t>passing</a:t>
            </a:r>
          </a:p>
        </p:txBody>
      </p:sp>
      <p:sp>
        <p:nvSpPr>
          <p:cNvPr id="82" name="Rectangle 81"/>
          <p:cNvSpPr/>
          <p:nvPr/>
        </p:nvSpPr>
        <p:spPr>
          <a:xfrm>
            <a:off x="548640" y="2423160"/>
            <a:ext cx="3749039" cy="640080"/>
          </a:xfrm>
          <a:prstGeom prst="rect">
            <a:avLst/>
          </a:prstGeom>
          <a:solidFill>
            <a:srgbClr val="0F172A"/>
          </a:solidFill>
          <a:ln w="9525">
            <a:solidFill>
              <a:srgbClr val="1E293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3" name="TextBox 82"/>
          <p:cNvSpPr txBox="1"/>
          <p:nvPr/>
        </p:nvSpPr>
        <p:spPr>
          <a:xfrm>
            <a:off x="685800" y="2478024"/>
            <a:ext cx="2286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38BDF8"/>
                </a:solidFill>
              </a:rPr>
              <a:t>navigation.spec.js</a:t>
            </a:r>
          </a:p>
        </p:txBody>
      </p:sp>
      <p:sp>
        <p:nvSpPr>
          <p:cNvPr id="84" name="TextBox 83"/>
          <p:cNvSpPr txBox="1"/>
          <p:nvPr/>
        </p:nvSpPr>
        <p:spPr>
          <a:xfrm>
            <a:off x="3108960" y="2478024"/>
            <a:ext cx="1005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1" i="0">
                <a:solidFill>
                  <a:srgbClr val="22C55E"/>
                </a:solidFill>
              </a:rPr>
              <a:t>3 tests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685800" y="2752344"/>
            <a:ext cx="34747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94A3B8"/>
                </a:solidFill>
              </a:rPr>
              <a:t>Nav bar, route loading, active link</a:t>
            </a:r>
          </a:p>
        </p:txBody>
      </p:sp>
      <p:sp>
        <p:nvSpPr>
          <p:cNvPr id="86" name="Rectangle 85"/>
          <p:cNvSpPr/>
          <p:nvPr/>
        </p:nvSpPr>
        <p:spPr>
          <a:xfrm>
            <a:off x="4434840" y="2423160"/>
            <a:ext cx="3749039" cy="640080"/>
          </a:xfrm>
          <a:prstGeom prst="rect">
            <a:avLst/>
          </a:prstGeom>
          <a:solidFill>
            <a:srgbClr val="0F172A"/>
          </a:solidFill>
          <a:ln w="9525">
            <a:solidFill>
              <a:srgbClr val="1E293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7" name="TextBox 86"/>
          <p:cNvSpPr txBox="1"/>
          <p:nvPr/>
        </p:nvSpPr>
        <p:spPr>
          <a:xfrm>
            <a:off x="4572000" y="2478024"/>
            <a:ext cx="2286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38BDF8"/>
                </a:solidFill>
              </a:rPr>
              <a:t>filters.spec.js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6995159" y="2478024"/>
            <a:ext cx="1005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1" i="0">
                <a:solidFill>
                  <a:srgbClr val="22C55E"/>
                </a:solidFill>
              </a:rPr>
              <a:t>5 tests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4572000" y="2752344"/>
            <a:ext cx="34747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94A3B8"/>
                </a:solidFill>
              </a:rPr>
              <a:t>All 4 controls, options, reset</a:t>
            </a:r>
          </a:p>
        </p:txBody>
      </p:sp>
      <p:sp>
        <p:nvSpPr>
          <p:cNvPr id="90" name="Rectangle 89"/>
          <p:cNvSpPr/>
          <p:nvPr/>
        </p:nvSpPr>
        <p:spPr>
          <a:xfrm>
            <a:off x="8321040" y="2423160"/>
            <a:ext cx="3749039" cy="640080"/>
          </a:xfrm>
          <a:prstGeom prst="rect">
            <a:avLst/>
          </a:prstGeom>
          <a:solidFill>
            <a:srgbClr val="0F172A"/>
          </a:solidFill>
          <a:ln w="9525">
            <a:solidFill>
              <a:srgbClr val="1E293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1" name="TextBox 90"/>
          <p:cNvSpPr txBox="1"/>
          <p:nvPr/>
        </p:nvSpPr>
        <p:spPr>
          <a:xfrm>
            <a:off x="8458200" y="2478024"/>
            <a:ext cx="2286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38BDF8"/>
                </a:solidFill>
              </a:rPr>
              <a:t>dashboard.spec.js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10881359" y="2478024"/>
            <a:ext cx="1005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1" i="0">
                <a:solidFill>
                  <a:srgbClr val="22C55E"/>
                </a:solidFill>
              </a:rPr>
              <a:t>6 tests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458200" y="2752344"/>
            <a:ext cx="34747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94A3B8"/>
                </a:solidFill>
              </a:rPr>
              <a:t>Title, KPIs, Order Health, charts, filters</a:t>
            </a:r>
          </a:p>
        </p:txBody>
      </p:sp>
      <p:sp>
        <p:nvSpPr>
          <p:cNvPr id="94" name="Rectangle 93"/>
          <p:cNvSpPr/>
          <p:nvPr/>
        </p:nvSpPr>
        <p:spPr>
          <a:xfrm>
            <a:off x="548640" y="3172968"/>
            <a:ext cx="3749039" cy="640080"/>
          </a:xfrm>
          <a:prstGeom prst="rect">
            <a:avLst/>
          </a:prstGeom>
          <a:solidFill>
            <a:srgbClr val="0F172A"/>
          </a:solidFill>
          <a:ln w="9525">
            <a:solidFill>
              <a:srgbClr val="1E293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5" name="TextBox 94"/>
          <p:cNvSpPr txBox="1"/>
          <p:nvPr/>
        </p:nvSpPr>
        <p:spPr>
          <a:xfrm>
            <a:off x="685800" y="3227832"/>
            <a:ext cx="2286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38BDF8"/>
                </a:solidFill>
              </a:rPr>
              <a:t>inventory.spec.js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3108960" y="3227832"/>
            <a:ext cx="1005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1" i="0">
                <a:solidFill>
                  <a:srgbClr val="22C55E"/>
                </a:solidFill>
              </a:rPr>
              <a:t>6 tests</a:t>
            </a:r>
          </a:p>
        </p:txBody>
      </p:sp>
      <p:sp>
        <p:nvSpPr>
          <p:cNvPr id="97" name="TextBox 96"/>
          <p:cNvSpPr txBox="1"/>
          <p:nvPr/>
        </p:nvSpPr>
        <p:spPr>
          <a:xfrm>
            <a:off x="685800" y="3502151"/>
            <a:ext cx="34747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94A3B8"/>
                </a:solidFill>
              </a:rPr>
              <a:t>Table, columns, Location/Category filters</a:t>
            </a:r>
          </a:p>
        </p:txBody>
      </p:sp>
      <p:sp>
        <p:nvSpPr>
          <p:cNvPr id="98" name="Rectangle 97"/>
          <p:cNvSpPr/>
          <p:nvPr/>
        </p:nvSpPr>
        <p:spPr>
          <a:xfrm>
            <a:off x="4434840" y="3172968"/>
            <a:ext cx="3749039" cy="640080"/>
          </a:xfrm>
          <a:prstGeom prst="rect">
            <a:avLst/>
          </a:prstGeom>
          <a:solidFill>
            <a:srgbClr val="0F172A"/>
          </a:solidFill>
          <a:ln w="9525">
            <a:solidFill>
              <a:srgbClr val="1E293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9" name="TextBox 98"/>
          <p:cNvSpPr txBox="1"/>
          <p:nvPr/>
        </p:nvSpPr>
        <p:spPr>
          <a:xfrm>
            <a:off x="4572000" y="3227832"/>
            <a:ext cx="2286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38BDF8"/>
                </a:solidFill>
              </a:rPr>
              <a:t>orders.spec.js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6995159" y="3227832"/>
            <a:ext cx="1005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1" i="0">
                <a:solidFill>
                  <a:srgbClr val="22C55E"/>
                </a:solidFill>
              </a:rPr>
              <a:t>5 tests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4572000" y="3502151"/>
            <a:ext cx="34747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94A3B8"/>
                </a:solidFill>
              </a:rPr>
              <a:t>Table, columns, Status/Location/Period filters</a:t>
            </a:r>
          </a:p>
        </p:txBody>
      </p:sp>
      <p:sp>
        <p:nvSpPr>
          <p:cNvPr id="102" name="Rectangle 101"/>
          <p:cNvSpPr/>
          <p:nvPr/>
        </p:nvSpPr>
        <p:spPr>
          <a:xfrm>
            <a:off x="8321040" y="3172968"/>
            <a:ext cx="3749039" cy="640080"/>
          </a:xfrm>
          <a:prstGeom prst="rect">
            <a:avLst/>
          </a:prstGeom>
          <a:solidFill>
            <a:srgbClr val="0F172A"/>
          </a:solidFill>
          <a:ln w="9525">
            <a:solidFill>
              <a:srgbClr val="1E293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3" name="TextBox 102"/>
          <p:cNvSpPr txBox="1"/>
          <p:nvPr/>
        </p:nvSpPr>
        <p:spPr>
          <a:xfrm>
            <a:off x="8458200" y="3227832"/>
            <a:ext cx="2286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38BDF8"/>
                </a:solidFill>
              </a:rPr>
              <a:t>reports.spec.js</a:t>
            </a:r>
          </a:p>
        </p:txBody>
      </p:sp>
      <p:sp>
        <p:nvSpPr>
          <p:cNvPr id="104" name="TextBox 103"/>
          <p:cNvSpPr txBox="1"/>
          <p:nvPr/>
        </p:nvSpPr>
        <p:spPr>
          <a:xfrm>
            <a:off x="10881359" y="3227832"/>
            <a:ext cx="1005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1" i="0">
                <a:solidFill>
                  <a:srgbClr val="22C55E"/>
                </a:solidFill>
              </a:rPr>
              <a:t>8 tests</a:t>
            </a:r>
          </a:p>
        </p:txBody>
      </p:sp>
      <p:sp>
        <p:nvSpPr>
          <p:cNvPr id="105" name="TextBox 104"/>
          <p:cNvSpPr txBox="1"/>
          <p:nvPr/>
        </p:nvSpPr>
        <p:spPr>
          <a:xfrm>
            <a:off x="8458200" y="3502151"/>
            <a:ext cx="34747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94A3B8"/>
                </a:solidFill>
              </a:rPr>
              <a:t>Quarterly table, MoM, bar chart, stats, filters</a:t>
            </a:r>
          </a:p>
        </p:txBody>
      </p:sp>
      <p:sp>
        <p:nvSpPr>
          <p:cNvPr id="106" name="Rectangle 105"/>
          <p:cNvSpPr/>
          <p:nvPr/>
        </p:nvSpPr>
        <p:spPr>
          <a:xfrm>
            <a:off x="548640" y="3922776"/>
            <a:ext cx="3749039" cy="640080"/>
          </a:xfrm>
          <a:prstGeom prst="rect">
            <a:avLst/>
          </a:prstGeom>
          <a:solidFill>
            <a:srgbClr val="0F172A"/>
          </a:solidFill>
          <a:ln w="9525">
            <a:solidFill>
              <a:srgbClr val="1E293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7" name="TextBox 106"/>
          <p:cNvSpPr txBox="1"/>
          <p:nvPr/>
        </p:nvSpPr>
        <p:spPr>
          <a:xfrm>
            <a:off x="685800" y="3977639"/>
            <a:ext cx="2286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38BDF8"/>
                </a:solidFill>
              </a:rPr>
              <a:t>restocking.spec.js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3108960" y="3977639"/>
            <a:ext cx="1005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1" i="0">
                <a:solidFill>
                  <a:srgbClr val="22C55E"/>
                </a:solidFill>
              </a:rPr>
              <a:t>9 tests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685800" y="4251960"/>
            <a:ext cx="34747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94A3B8"/>
                </a:solidFill>
              </a:rPr>
              <a:t>Budget input, stat cards, table, Status column logic</a:t>
            </a:r>
          </a:p>
        </p:txBody>
      </p:sp>
      <p:sp>
        <p:nvSpPr>
          <p:cNvPr id="110" name="Rectangle 109"/>
          <p:cNvSpPr/>
          <p:nvPr/>
        </p:nvSpPr>
        <p:spPr>
          <a:xfrm>
            <a:off x="4434840" y="3922776"/>
            <a:ext cx="3749039" cy="640080"/>
          </a:xfrm>
          <a:prstGeom prst="rect">
            <a:avLst/>
          </a:prstGeom>
          <a:solidFill>
            <a:srgbClr val="0F172A"/>
          </a:solidFill>
          <a:ln w="9525">
            <a:solidFill>
              <a:srgbClr val="1E293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1" name="TextBox 110"/>
          <p:cNvSpPr txBox="1"/>
          <p:nvPr/>
        </p:nvSpPr>
        <p:spPr>
          <a:xfrm>
            <a:off x="4572000" y="3977639"/>
            <a:ext cx="2286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38BDF8"/>
                </a:solidFill>
              </a:rPr>
              <a:t>spending.spec.js</a:t>
            </a:r>
          </a:p>
        </p:txBody>
      </p:sp>
      <p:sp>
        <p:nvSpPr>
          <p:cNvPr id="112" name="TextBox 111"/>
          <p:cNvSpPr txBox="1"/>
          <p:nvPr/>
        </p:nvSpPr>
        <p:spPr>
          <a:xfrm>
            <a:off x="6995159" y="3977639"/>
            <a:ext cx="1005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1" i="0">
                <a:solidFill>
                  <a:srgbClr val="22C55E"/>
                </a:solidFill>
              </a:rPr>
              <a:t>6 tests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4572000" y="4251960"/>
            <a:ext cx="34747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94A3B8"/>
                </a:solidFill>
              </a:rPr>
              <a:t>KPI cards, charts, period filter</a:t>
            </a:r>
          </a:p>
        </p:txBody>
      </p:sp>
      <p:sp>
        <p:nvSpPr>
          <p:cNvPr id="114" name="Rectangle 113"/>
          <p:cNvSpPr/>
          <p:nvPr/>
        </p:nvSpPr>
        <p:spPr>
          <a:xfrm>
            <a:off x="8321040" y="3922776"/>
            <a:ext cx="3749039" cy="640080"/>
          </a:xfrm>
          <a:prstGeom prst="rect">
            <a:avLst/>
          </a:prstGeom>
          <a:solidFill>
            <a:srgbClr val="0F172A"/>
          </a:solidFill>
          <a:ln w="9525">
            <a:solidFill>
              <a:srgbClr val="1E293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5" name="TextBox 114"/>
          <p:cNvSpPr txBox="1"/>
          <p:nvPr/>
        </p:nvSpPr>
        <p:spPr>
          <a:xfrm>
            <a:off x="8458200" y="3977639"/>
            <a:ext cx="2286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38BDF8"/>
                </a:solidFill>
              </a:rPr>
              <a:t>demand.spec.js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10881359" y="3977639"/>
            <a:ext cx="1005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1" i="0">
                <a:solidFill>
                  <a:srgbClr val="22C55E"/>
                </a:solidFill>
              </a:rPr>
              <a:t>7 tests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8458200" y="4251960"/>
            <a:ext cx="34747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94A3B8"/>
                </a:solidFill>
              </a:rPr>
              <a:t>Trend cards, table, filters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548640" y="411480"/>
            <a:ext cx="1737360" cy="292608"/>
          </a:xfrm>
          <a:prstGeom prst="rect">
            <a:avLst/>
          </a:prstGeom>
          <a:solidFill>
            <a:srgbClr val="052E1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621792" y="438912"/>
            <a:ext cx="16002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it-IT" sz="1000" b="1" i="0">
                <a:solidFill>
                  <a:srgbClr val="22C55E"/>
                </a:solidFill>
              </a:rPr>
              <a:t>COMPLETE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822960"/>
            <a:ext cx="9144000" cy="2616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lang="it-IT" sz="1100" b="1" i="0">
                <a:solidFill>
                  <a:srgbClr val="38BDF8"/>
                </a:solidFill>
              </a:rPr>
              <a:t>R4 · Architecture Documentation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234440"/>
            <a:ext cx="10058400" cy="107721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lang="en-US" sz="3200" b="1" i="0">
                <a:solidFill>
                  <a:srgbClr val="F8FAFC"/>
                </a:solidFill>
              </a:rPr>
              <a:t>Full current-state docs
delivered to Meridian IT.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0" y="2468880"/>
            <a:ext cx="2651760" cy="2103120"/>
          </a:xfrm>
          <a:prstGeom prst="rect">
            <a:avLst/>
          </a:prstGeom>
          <a:solidFill>
            <a:srgbClr val="1E293B"/>
          </a:solidFill>
          <a:ln w="9525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685800" y="2560320"/>
            <a:ext cx="23774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38BDF8"/>
                </a:solidFill>
              </a:rPr>
              <a:t>Tech stack overview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2999232"/>
            <a:ext cx="237744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CBD5E1"/>
                </a:solidFill>
              </a:rPr>
              <a:t>Vue 3 + Vite / FastAPI + Pydantic / JSON mock data. Ports, run commands, CORS notes.</a:t>
            </a:r>
          </a:p>
        </p:txBody>
      </p:sp>
      <p:sp>
        <p:nvSpPr>
          <p:cNvPr id="9" name="Rectangle 8"/>
          <p:cNvSpPr/>
          <p:nvPr/>
        </p:nvSpPr>
        <p:spPr>
          <a:xfrm>
            <a:off x="3355848" y="2468880"/>
            <a:ext cx="2651760" cy="2103120"/>
          </a:xfrm>
          <a:prstGeom prst="rect">
            <a:avLst/>
          </a:prstGeom>
          <a:solidFill>
            <a:srgbClr val="1E293B"/>
          </a:solidFill>
          <a:ln w="9525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3493008" y="2560320"/>
            <a:ext cx="23774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38BDF8"/>
                </a:solidFill>
              </a:rPr>
              <a:t>SVG component map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493008" y="2999232"/>
            <a:ext cx="237744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CBD5E1"/>
                </a:solidFill>
              </a:rPr>
              <a:t>Browser → api.js → FastAPI endpoints → mock data layer. Composables, data flow arrows, legend.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163056" y="2468880"/>
            <a:ext cx="2651760" cy="2103120"/>
          </a:xfrm>
          <a:prstGeom prst="rect">
            <a:avLst/>
          </a:prstGeom>
          <a:solidFill>
            <a:srgbClr val="1E293B"/>
          </a:solidFill>
          <a:ln w="9525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6300216" y="2560320"/>
            <a:ext cx="23774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38BDF8"/>
                </a:solidFill>
              </a:rPr>
              <a:t>API endpoint reference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300216" y="2999232"/>
            <a:ext cx="237744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CBD5E1"/>
                </a:solidFill>
              </a:rPr>
              <a:t>15 endpoints: method, path, all query params, JSON response shape. Restocking ★ flagged as new.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970264" y="2468880"/>
            <a:ext cx="2651760" cy="2103120"/>
          </a:xfrm>
          <a:prstGeom prst="rect">
            <a:avLst/>
          </a:prstGeom>
          <a:solidFill>
            <a:srgbClr val="1E293B"/>
          </a:solidFill>
          <a:ln w="9525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9107424" y="2560320"/>
            <a:ext cx="23774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38BDF8"/>
                </a:solidFill>
              </a:rPr>
              <a:t>IT handoff notes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107424" y="2999232"/>
            <a:ext cx="237744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CBD5E1"/>
                </a:solidFill>
              </a:rPr>
              <a:t>How to add endpoints, add views, replace JSON with a real DB, run the Playwright suite.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31520" y="2377440"/>
            <a:ext cx="5029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38BDF8"/>
                </a:solidFill>
              </a:rPr>
              <a:t>R4 — What we're building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31520" y="2834640"/>
            <a:ext cx="5029200" cy="2560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700"/>
              </a:spcBef>
            </a:pPr>
            <a:r>
              <a:rPr sz="1300">
                <a:solidFill>
                  <a:srgbClr val="CBD5E1"/>
                </a:solidFill>
              </a:rPr>
              <a:t>→  HTML architecture diagram (component map + data flow)</a:t>
            </a:r>
          </a:p>
          <a:p>
            <a:pPr>
              <a:spcBef>
                <a:spcPts val="700"/>
              </a:spcBef>
            </a:pPr>
            <a:r>
              <a:rPr sz="1300">
                <a:solidFill>
                  <a:srgbClr val="CBD5E1"/>
                </a:solidFill>
              </a:rPr>
              <a:t>→  API endpoint reference with request/response shapes</a:t>
            </a:r>
          </a:p>
          <a:p>
            <a:pPr>
              <a:spcBef>
                <a:spcPts val="700"/>
              </a:spcBef>
            </a:pPr>
            <a:r>
              <a:rPr sz="1300">
                <a:solidFill>
                  <a:srgbClr val="CBD5E1"/>
                </a:solidFill>
              </a:rPr>
              <a:t>→  Mock-data layer documentation for Meridian IT</a:t>
            </a:r>
          </a:p>
          <a:p>
            <a:pPr>
              <a:spcBef>
                <a:spcPts val="700"/>
              </a:spcBef>
            </a:pPr>
            <a:r>
              <a:rPr sz="1300">
                <a:solidFill>
                  <a:srgbClr val="CBD5E1"/>
                </a:solidFill>
              </a:rPr>
              <a:t>→  Handoff notes: how to extend the app post-engagement</a:t>
            </a:r>
          </a:p>
        </p:txBody>
      </p:sp>
      <p:sp>
        <p:nvSpPr>
          <p:cNvPr id="25" name="Rectangle 24"/>
          <p:cNvSpPr/>
          <p:nvPr/>
        </p:nvSpPr>
        <p:spPr>
          <a:xfrm>
            <a:off x="6217920" y="2240280"/>
            <a:ext cx="5394960" cy="3383280"/>
          </a:xfrm>
          <a:prstGeom prst="rect">
            <a:avLst/>
          </a:prstGeom>
          <a:solidFill>
            <a:srgbClr val="1E293B"/>
          </a:solidFill>
          <a:ln w="9525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6" name="TextBox 25"/>
          <p:cNvSpPr txBox="1"/>
          <p:nvPr/>
        </p:nvSpPr>
        <p:spPr>
          <a:xfrm>
            <a:off x="6400800" y="2377440"/>
            <a:ext cx="5029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38BDF8"/>
                </a:solidFill>
              </a:rPr>
              <a:t>Remaining work + optional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400800" y="2834640"/>
            <a:ext cx="5029200" cy="2560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700"/>
              </a:spcBef>
            </a:pPr>
            <a:r>
              <a:rPr sz="1300">
                <a:solidFill>
                  <a:srgbClr val="CBD5E1"/>
                </a:solidFill>
              </a:rPr>
              <a:t>→  R4: Architecture HTML + handoff doc  (next)</a:t>
            </a:r>
          </a:p>
          <a:p>
            <a:pPr>
              <a:spcBef>
                <a:spcPts val="700"/>
              </a:spcBef>
            </a:pPr>
            <a:r>
              <a:rPr sz="1300">
                <a:solidFill>
                  <a:srgbClr val="CBD5E1"/>
                </a:solidFill>
              </a:rPr>
              <a:t>→  D1: UI refresh  (optional, weeks 11–12)</a:t>
            </a:r>
          </a:p>
          <a:p>
            <a:pPr>
              <a:spcBef>
                <a:spcPts val="700"/>
              </a:spcBef>
            </a:pPr>
            <a:r>
              <a:rPr sz="1300">
                <a:solidFill>
                  <a:srgbClr val="CBD5E1"/>
                </a:solidFill>
              </a:rPr>
              <a:t>→  D2: Full i18n expansion  (optional)</a:t>
            </a:r>
          </a:p>
          <a:p>
            <a:pPr>
              <a:spcBef>
                <a:spcPts val="700"/>
              </a:spcBef>
            </a:pPr>
            <a:r>
              <a:rPr sz="1300">
                <a:solidFill>
                  <a:srgbClr val="CBD5E1"/>
                </a:solidFill>
              </a:rPr>
              <a:t>→  D3: Dark mode prototype on branch  (optional)</a:t>
            </a:r>
          </a:p>
          <a:p>
            <a:pPr>
              <a:spcBef>
                <a:spcPts val="700"/>
              </a:spcBef>
            </a:pPr>
            <a:r>
              <a:rPr sz="1300">
                <a:solidFill>
                  <a:srgbClr val="CBD5E1"/>
                </a:solidFill>
              </a:rPr>
              <a:t>→  PR merge + Meridian IT walkthrough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8640" y="45720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475569"/>
                </a:solidFill>
              </a:rPr>
              <a:t>ACCENTURE&amp;CT CONSULTING  ·  MERIDIAN COMPONENTS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548640" y="914400"/>
            <a:ext cx="1097280" cy="0"/>
          </a:xfrm>
          <a:prstGeom prst="line">
            <a:avLst/>
          </a:prstGeom>
          <a:ln w="25400">
            <a:solidFill>
              <a:srgbClr val="38BDF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TextBox 3"/>
          <p:cNvSpPr txBox="1"/>
          <p:nvPr/>
        </p:nvSpPr>
        <p:spPr>
          <a:xfrm>
            <a:off x="548640" y="1005840"/>
            <a:ext cx="9144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38BDF8"/>
                </a:solidFill>
              </a:rPr>
              <a:t>BASE ENGAGEMENT · COMPLETE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417320"/>
            <a:ext cx="731520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400" b="1" i="0">
                <a:solidFill>
                  <a:srgbClr val="F8FAFC"/>
                </a:solidFill>
              </a:rPr>
              <a:t>R1 · R2 · R3 · R4
All delivered.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0" y="3017520"/>
            <a:ext cx="11064240" cy="548640"/>
          </a:xfrm>
          <a:prstGeom prst="rect">
            <a:avLst/>
          </a:prstGeom>
          <a:solidFill>
            <a:srgbClr val="052E16"/>
          </a:solidFill>
          <a:ln w="9525">
            <a:solidFill>
              <a:srgbClr val="16653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822960" y="3090672"/>
            <a:ext cx="246888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22C55E"/>
                </a:solidFill>
              </a:rPr>
              <a:t>✓  R1  Reports fixed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566160" y="3090672"/>
            <a:ext cx="246888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22C55E"/>
                </a:solidFill>
              </a:rPr>
              <a:t>✓  R2  Restocking view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309360" y="3090672"/>
            <a:ext cx="246888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22C55E"/>
                </a:solidFill>
              </a:rPr>
              <a:t>✓  R3  59/59 tests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052560" y="3090672"/>
            <a:ext cx="246888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22C55E"/>
                </a:solidFill>
              </a:rPr>
              <a:t>✓  R4  Architecture docs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48640" y="3794760"/>
            <a:ext cx="11064240" cy="2423160"/>
          </a:xfrm>
          <a:prstGeom prst="rect">
            <a:avLst/>
          </a:prstGeom>
          <a:solidFill>
            <a:srgbClr val="1E293B"/>
          </a:solidFill>
          <a:ln w="9525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731520" y="3931920"/>
            <a:ext cx="10058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38BDF8"/>
                </a:solidFill>
              </a:rPr>
              <a:t>Optional extensions — available now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31520" y="4407408"/>
            <a:ext cx="329184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F8FAFC"/>
                </a:solidFill>
              </a:rPr>
              <a:t>D1 · UI Refresh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31520" y="4709160"/>
            <a:ext cx="16459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94A3B8"/>
                </a:solidFill>
              </a:rPr>
              <a:t>Weeks 11–12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468880" y="4709160"/>
            <a:ext cx="14630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38BDF8"/>
                </a:solidFill>
              </a:rPr>
              <a:t>$12,000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31520" y="5010912"/>
            <a:ext cx="329184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CBD5E1"/>
                </a:solidFill>
              </a:rPr>
              <a:t>Visual modernisation, spacing, colour system, mobile-responsive layout.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389120" y="4407408"/>
            <a:ext cx="329184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F8FAFC"/>
                </a:solidFill>
              </a:rPr>
              <a:t>D2 · i18n Expansion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389120" y="4709160"/>
            <a:ext cx="16459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94A3B8"/>
                </a:solidFill>
              </a:rPr>
              <a:t>Week 13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126479" y="4709160"/>
            <a:ext cx="14630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38BDF8"/>
                </a:solidFill>
              </a:rPr>
              <a:t>$8,000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389120" y="5010912"/>
            <a:ext cx="329184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CBD5E1"/>
                </a:solidFill>
              </a:rPr>
              <a:t>Additional languages beyond EN/JA. Locale-aware number/date formatting.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046720" y="4407408"/>
            <a:ext cx="329184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F8FAFC"/>
                </a:solidFill>
              </a:rPr>
              <a:t>D3 · Dark Mode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046720" y="4709160"/>
            <a:ext cx="16459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94A3B8"/>
                </a:solidFill>
              </a:rPr>
              <a:t>Week 13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784080" y="4709160"/>
            <a:ext cx="14630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38BDF8"/>
                </a:solidFill>
              </a:rPr>
              <a:t>$8,000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046720" y="5010912"/>
            <a:ext cx="329184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CBD5E1"/>
                </a:solidFill>
              </a:rPr>
              <a:t>CSS variable theming. Prototype on a worktree branch, merge when approved.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48640" y="6492240"/>
            <a:ext cx="10972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475569"/>
                </a:solidFill>
              </a:rPr>
              <a:t>RFP #MC-2026-0417  ·  April 27, 2026  ·  Feature branch ready for PR review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1162</Words>
  <Application>Microsoft Office PowerPoint</Application>
  <PresentationFormat>Custom</PresentationFormat>
  <Paragraphs>191</Paragraphs>
  <Slides>7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7</vt:i4>
      </vt:variant>
    </vt:vector>
  </HeadingPairs>
  <TitlesOfParts>
    <vt:vector size="10" baseType="lpstr">
      <vt:lpstr>Arial</vt:lpstr>
      <vt:lpstr>Calibri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Tomei, Carlo</cp:lastModifiedBy>
  <cp:revision>1</cp:revision>
  <dcterms:created xsi:type="dcterms:W3CDTF">2013-01-27T09:14:16Z</dcterms:created>
  <dcterms:modified xsi:type="dcterms:W3CDTF">2026-04-27T10:56:59Z</dcterms:modified>
  <cp:category/>
</cp:coreProperties>
</file>